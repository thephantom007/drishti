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Libre Baskerville Bold" charset="1" panose="02000000000000000000"/>
      <p:regular r:id="rId13"/>
    </p:embeddedFont>
    <p:embeddedFont>
      <p:font typeface="Libre Baskerville" charset="1" panose="02000000000000000000"/>
      <p:regular r:id="rId14"/>
    </p:embeddedFont>
    <p:embeddedFont>
      <p:font typeface="Arimo Bold" charset="1" panose="020B0704020202020204"/>
      <p:regular r:id="rId18"/>
    </p:embeddedFont>
    <p:embeddedFont>
      <p:font typeface="Arimo" charset="1" panose="020B0604020202020204"/>
      <p:regular r:id="rId19"/>
    </p:embeddedFont>
    <p:embeddedFont>
      <p:font typeface="Montserrat Bold" charset="1" panose="00000800000000000000"/>
      <p:regular r:id="rId20"/>
    </p:embeddedFont>
    <p:embeddedFont>
      <p:font typeface="Montserrat Semi-Bold" charset="1" panose="00000700000000000000"/>
      <p:regular r:id="rId21"/>
    </p:embeddedFont>
    <p:embeddedFont>
      <p:font typeface="Montserrat Italics" charset="1" panose="00000500000000000000"/>
      <p:regular r:id="rId23"/>
    </p:embeddedFont>
    <p:embeddedFont>
      <p:font typeface="Canva Sans Bold" charset="1" panose="020B0803030501040103"/>
      <p:regular r:id="rId26"/>
    </p:embeddedFont>
    <p:embeddedFont>
      <p:font typeface="Montserrat Medium" charset="1" panose="00000600000000000000"/>
      <p:regular r:id="rId27"/>
    </p:embeddedFont>
    <p:embeddedFont>
      <p:font typeface="Montserrat Semi-Bold Italics" charset="1" panose="000007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github.com/ThePhantom007/Drishti" TargetMode="External" Type="http://schemas.openxmlformats.org/officeDocument/2006/relationships/hyperlink"/><Relationship Id="rId11" Target="https://drishti-frontend-c9mj.onrender.com" TargetMode="External" Type="http://schemas.openxmlformats.org/officeDocument/2006/relationships/hyperlink"/><Relationship Id="rId2" Target="../notesSlides/notesSlide1.xml" Type="http://schemas.openxmlformats.org/officeDocument/2006/relationships/notesSlide"/><Relationship Id="rId3" Target="../media/image4.jpe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5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5.pn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15.pn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crystalcleareye.in/understanding-diabetic-eye-disease-by-dr-jignesh-gala/" TargetMode="External" Type="http://schemas.openxmlformats.org/officeDocument/2006/relationships/hyperlink"/><Relationship Id="rId11" Target="https://pmc.ncbi.nlm.nih.gov/articles/PMC11240943/" TargetMode="External" Type="http://schemas.openxmlformats.org/officeDocument/2006/relationships/hyperlink"/><Relationship Id="rId12" Target="../media/image5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https://www.kaggle.com/competitions/aptos2019-blindness-detection/data" TargetMode="External" Type="http://schemas.openxmlformats.org/officeDocument/2006/relationships/hyperlink"/><Relationship Id="rId5" Target="https://ieee-dataport.org/open-access/indian-diabetic-retinopathy-image-dataset-idrid" TargetMode="External" Type="http://schemas.openxmlformats.org/officeDocument/2006/relationships/hyperlink"/><Relationship Id="rId6" Target="https://www.adcis.net/en/third-party/messidor2/" TargetMode="External" Type="http://schemas.openxmlformats.org/officeDocument/2006/relationships/hyperlink"/><Relationship Id="rId7" Target="https://pubmed.ncbi.nlm.nih.gov/13129861/" TargetMode="External" Type="http://schemas.openxmlformats.org/officeDocument/2006/relationships/hyperlink"/><Relationship Id="rId8" Target="https://arxiv.org/abs/1706.04599" TargetMode="External" Type="http://schemas.openxmlformats.org/officeDocument/2006/relationships/hyperlink"/><Relationship Id="rId9" Target="https://www.thelancet.com/journals/landia/article/PIIS2213-8587(23)00119-5/fulltext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2333" y="257381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712765" y="-705736"/>
            <a:ext cx="15544800" cy="3114675"/>
            <a:chOff x="0" y="0"/>
            <a:chExt cx="20726400" cy="4152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26853" y="2167900"/>
            <a:ext cx="9555480" cy="523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</a:p>
          <a:p>
            <a:pPr algn="just" marL="434340" indent="-217170" lvl="1">
              <a:lnSpc>
                <a:spcPts val="57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Problem Statement ID –</a:t>
            </a:r>
            <a:r>
              <a:rPr lang="en-US" sz="2400">
                <a:solidFill>
                  <a:srgbClr val="08384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SIH26038</a:t>
            </a:r>
          </a:p>
          <a:p>
            <a:pPr algn="just" marL="434340" indent="-217170" lvl="1">
              <a:lnSpc>
                <a:spcPts val="57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Problem Statement Title-</a:t>
            </a:r>
            <a:r>
              <a:rPr lang="en-US" sz="2400">
                <a:solidFill>
                  <a:srgbClr val="08384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Explainable AI for Diabetic Retinopathy Screening in Rural India</a:t>
            </a:r>
          </a:p>
          <a:p>
            <a:pPr algn="just" marL="434340" indent="-217170" lvl="1">
              <a:lnSpc>
                <a:spcPts val="57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Theme-</a:t>
            </a:r>
            <a:r>
              <a:rPr lang="en-US" sz="2400">
                <a:solidFill>
                  <a:srgbClr val="08384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MedTech / BioTech / HealthTech</a:t>
            </a:r>
          </a:p>
          <a:p>
            <a:pPr algn="just" marL="434340" indent="-217170" lvl="1">
              <a:lnSpc>
                <a:spcPts val="57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PS Category- </a:t>
            </a:r>
            <a:r>
              <a:rPr lang="en-US" sz="2400">
                <a:solidFill>
                  <a:srgbClr val="08384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Software</a:t>
            </a:r>
          </a:p>
          <a:p>
            <a:pPr algn="just" marL="434340" indent="-217170" lvl="1">
              <a:lnSpc>
                <a:spcPts val="57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Team ID- </a:t>
            </a:r>
            <a:r>
              <a:rPr lang="en-US" sz="2400">
                <a:solidFill>
                  <a:srgbClr val="08384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178208</a:t>
            </a:r>
          </a:p>
          <a:p>
            <a:pPr algn="just" marL="434340" indent="-217170" lvl="1">
              <a:lnSpc>
                <a:spcPts val="57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Team Name (Registered on portal)- </a:t>
            </a:r>
            <a:r>
              <a:rPr lang="en-US" sz="2400">
                <a:solidFill>
                  <a:srgbClr val="08384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_Veyronix_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762045" y="9449"/>
            <a:ext cx="3313681" cy="1684306"/>
            <a:chOff x="0" y="0"/>
            <a:chExt cx="4418241" cy="224574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736" t="0" r="-1736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01954" y="216326"/>
            <a:ext cx="2465465" cy="872490"/>
            <a:chOff x="0" y="0"/>
            <a:chExt cx="3287287" cy="11633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87287" cy="1163320"/>
            </a:xfrm>
            <a:custGeom>
              <a:avLst/>
              <a:gdLst/>
              <a:ahLst/>
              <a:cxnLst/>
              <a:rect r="r" b="b" t="t" l="l"/>
              <a:pathLst>
                <a:path h="1163320" w="3287287">
                  <a:moveTo>
                    <a:pt x="0" y="0"/>
                  </a:moveTo>
                  <a:lnTo>
                    <a:pt x="3287287" y="0"/>
                  </a:lnTo>
                  <a:lnTo>
                    <a:pt x="3287287" y="1163320"/>
                  </a:lnTo>
                  <a:lnTo>
                    <a:pt x="0" y="1163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842" r="-386784" b="-27020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3287287" cy="1163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60"/>
                </a:lnSpc>
              </a:pPr>
              <a:r>
                <a:rPr lang="en-US" sz="3800" b="true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DRISHTI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739312"/>
            <a:ext cx="18288000" cy="547688"/>
            <a:chOff x="0" y="0"/>
            <a:chExt cx="243840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730250"/>
            </a:xfrm>
            <a:custGeom>
              <a:avLst/>
              <a:gdLst/>
              <a:ahLst/>
              <a:cxnLst/>
              <a:rect r="r" b="b" t="t" l="l"/>
              <a:pathLst>
                <a:path h="7302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106400" y="9739312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739312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Veyronix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86690" y="186690"/>
            <a:ext cx="1889760" cy="861060"/>
            <a:chOff x="0" y="0"/>
            <a:chExt cx="2519680" cy="1148080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19680" cy="1148080"/>
            </a:xfrm>
            <a:custGeom>
              <a:avLst/>
              <a:gdLst/>
              <a:ahLst/>
              <a:cxnLst/>
              <a:rect r="r" b="b" t="t" l="l"/>
              <a:pathLst>
                <a:path h="1148080" w="2519680">
                  <a:moveTo>
                    <a:pt x="0" y="574040"/>
                  </a:moveTo>
                  <a:cubicBezTo>
                    <a:pt x="0" y="257048"/>
                    <a:pt x="564007" y="0"/>
                    <a:pt x="1259840" y="0"/>
                  </a:cubicBezTo>
                  <a:cubicBezTo>
                    <a:pt x="1955673" y="0"/>
                    <a:pt x="2519680" y="257048"/>
                    <a:pt x="2519680" y="574040"/>
                  </a:cubicBezTo>
                  <a:cubicBezTo>
                    <a:pt x="2519680" y="891032"/>
                    <a:pt x="1955673" y="1148080"/>
                    <a:pt x="1259840" y="1148080"/>
                  </a:cubicBezTo>
                  <a:cubicBezTo>
                    <a:pt x="564007" y="1148080"/>
                    <a:pt x="0" y="891032"/>
                    <a:pt x="0" y="5740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519680" cy="1148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8384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Veyronix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182424" y="7687419"/>
            <a:ext cx="14415523" cy="2051894"/>
            <a:chOff x="0" y="0"/>
            <a:chExt cx="19220697" cy="2735858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4114800" cy="2449018"/>
              <a:chOff x="0" y="0"/>
              <a:chExt cx="812800" cy="48375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483757"/>
              </a:xfrm>
              <a:custGeom>
                <a:avLst/>
                <a:gdLst/>
                <a:ahLst/>
                <a:cxnLst/>
                <a:rect r="r" b="b" t="t" l="l"/>
                <a:pathLst>
                  <a:path h="483757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355816"/>
                    </a:lnTo>
                    <a:cubicBezTo>
                      <a:pt x="812800" y="389748"/>
                      <a:pt x="799321" y="422290"/>
                      <a:pt x="775327" y="446284"/>
                    </a:cubicBezTo>
                    <a:cubicBezTo>
                      <a:pt x="751333" y="470277"/>
                      <a:pt x="718791" y="483757"/>
                      <a:pt x="684859" y="483757"/>
                    </a:cubicBezTo>
                    <a:lnTo>
                      <a:pt x="127941" y="483757"/>
                    </a:lnTo>
                    <a:cubicBezTo>
                      <a:pt x="94009" y="483757"/>
                      <a:pt x="61467" y="470277"/>
                      <a:pt x="37473" y="446284"/>
                    </a:cubicBezTo>
                    <a:cubicBezTo>
                      <a:pt x="13479" y="422290"/>
                      <a:pt x="0" y="389748"/>
                      <a:pt x="0" y="355816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F2FBEC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9525"/>
                <a:ext cx="812800" cy="4932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0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14996260" y="85141"/>
              <a:ext cx="4114800" cy="2449018"/>
              <a:chOff x="0" y="0"/>
              <a:chExt cx="812800" cy="483757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483757"/>
              </a:xfrm>
              <a:custGeom>
                <a:avLst/>
                <a:gdLst/>
                <a:ahLst/>
                <a:cxnLst/>
                <a:rect r="r" b="b" t="t" l="l"/>
                <a:pathLst>
                  <a:path h="483757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355816"/>
                    </a:lnTo>
                    <a:cubicBezTo>
                      <a:pt x="812800" y="389748"/>
                      <a:pt x="799321" y="422290"/>
                      <a:pt x="775327" y="446284"/>
                    </a:cubicBezTo>
                    <a:cubicBezTo>
                      <a:pt x="751333" y="470277"/>
                      <a:pt x="718791" y="483757"/>
                      <a:pt x="684859" y="483757"/>
                    </a:cubicBezTo>
                    <a:lnTo>
                      <a:pt x="127941" y="483757"/>
                    </a:lnTo>
                    <a:cubicBezTo>
                      <a:pt x="94009" y="483757"/>
                      <a:pt x="61467" y="470277"/>
                      <a:pt x="37473" y="446284"/>
                    </a:cubicBezTo>
                    <a:cubicBezTo>
                      <a:pt x="13479" y="422290"/>
                      <a:pt x="0" y="389748"/>
                      <a:pt x="0" y="355816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F2FBEC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9525"/>
                <a:ext cx="812800" cy="4932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0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5077338" y="60064"/>
              <a:ext cx="4114800" cy="2449018"/>
              <a:chOff x="0" y="0"/>
              <a:chExt cx="812800" cy="483757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483757"/>
              </a:xfrm>
              <a:custGeom>
                <a:avLst/>
                <a:gdLst/>
                <a:ahLst/>
                <a:cxnLst/>
                <a:rect r="r" b="b" t="t" l="l"/>
                <a:pathLst>
                  <a:path h="483757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355816"/>
                    </a:lnTo>
                    <a:cubicBezTo>
                      <a:pt x="812800" y="389748"/>
                      <a:pt x="799321" y="422290"/>
                      <a:pt x="775327" y="446284"/>
                    </a:cubicBezTo>
                    <a:cubicBezTo>
                      <a:pt x="751333" y="470277"/>
                      <a:pt x="718791" y="483757"/>
                      <a:pt x="684859" y="483757"/>
                    </a:cubicBezTo>
                    <a:lnTo>
                      <a:pt x="127941" y="483757"/>
                    </a:lnTo>
                    <a:cubicBezTo>
                      <a:pt x="94009" y="483757"/>
                      <a:pt x="61467" y="470277"/>
                      <a:pt x="37473" y="446284"/>
                    </a:cubicBezTo>
                    <a:cubicBezTo>
                      <a:pt x="13479" y="422290"/>
                      <a:pt x="0" y="389748"/>
                      <a:pt x="0" y="355816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F2FBEC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9525"/>
                <a:ext cx="812800" cy="4932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0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10065423" y="0"/>
              <a:ext cx="4114800" cy="2449018"/>
              <a:chOff x="0" y="0"/>
              <a:chExt cx="812800" cy="483757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483757"/>
              </a:xfrm>
              <a:custGeom>
                <a:avLst/>
                <a:gdLst/>
                <a:ahLst/>
                <a:cxnLst/>
                <a:rect r="r" b="b" t="t" l="l"/>
                <a:pathLst>
                  <a:path h="483757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355816"/>
                    </a:lnTo>
                    <a:cubicBezTo>
                      <a:pt x="812800" y="389748"/>
                      <a:pt x="799321" y="422290"/>
                      <a:pt x="775327" y="446284"/>
                    </a:cubicBezTo>
                    <a:cubicBezTo>
                      <a:pt x="751333" y="470277"/>
                      <a:pt x="718791" y="483757"/>
                      <a:pt x="684859" y="483757"/>
                    </a:cubicBezTo>
                    <a:lnTo>
                      <a:pt x="127941" y="483757"/>
                    </a:lnTo>
                    <a:cubicBezTo>
                      <a:pt x="94009" y="483757"/>
                      <a:pt x="61467" y="470277"/>
                      <a:pt x="37473" y="446284"/>
                    </a:cubicBezTo>
                    <a:cubicBezTo>
                      <a:pt x="13479" y="422290"/>
                      <a:pt x="0" y="389748"/>
                      <a:pt x="0" y="355816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F2FBEC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9525"/>
                <a:ext cx="812800" cy="4932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09"/>
                  </a:lnSpc>
                </a:pPr>
              </a:p>
            </p:txBody>
          </p:sp>
        </p:grpSp>
        <p:sp>
          <p:nvSpPr>
            <p:cNvPr name="Freeform 29" id="29"/>
            <p:cNvSpPr/>
            <p:nvPr/>
          </p:nvSpPr>
          <p:spPr>
            <a:xfrm flipH="false" flipV="false" rot="0">
              <a:off x="1020574" y="22512"/>
              <a:ext cx="2441291" cy="2441291"/>
            </a:xfrm>
            <a:custGeom>
              <a:avLst/>
              <a:gdLst/>
              <a:ahLst/>
              <a:cxnLst/>
              <a:rect r="r" b="b" t="t" l="l"/>
              <a:pathLst>
                <a:path h="2441291" w="2441291">
                  <a:moveTo>
                    <a:pt x="0" y="0"/>
                  </a:moveTo>
                  <a:lnTo>
                    <a:pt x="2441290" y="0"/>
                  </a:lnTo>
                  <a:lnTo>
                    <a:pt x="2441290" y="2441291"/>
                  </a:lnTo>
                  <a:lnTo>
                    <a:pt x="0" y="2441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0000"/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6354312" y="265139"/>
              <a:ext cx="2076166" cy="2076166"/>
            </a:xfrm>
            <a:custGeom>
              <a:avLst/>
              <a:gdLst/>
              <a:ahLst/>
              <a:cxnLst/>
              <a:rect r="r" b="b" t="t" l="l"/>
              <a:pathLst>
                <a:path h="2076166" w="2076166">
                  <a:moveTo>
                    <a:pt x="0" y="0"/>
                  </a:moveTo>
                  <a:lnTo>
                    <a:pt x="2076165" y="0"/>
                  </a:lnTo>
                  <a:lnTo>
                    <a:pt x="2076165" y="2076165"/>
                  </a:lnTo>
                  <a:lnTo>
                    <a:pt x="0" y="2076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0000"/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0939164" y="163552"/>
              <a:ext cx="2360314" cy="2360314"/>
            </a:xfrm>
            <a:custGeom>
              <a:avLst/>
              <a:gdLst/>
              <a:ahLst/>
              <a:cxnLst/>
              <a:rect r="r" b="b" t="t" l="l"/>
              <a:pathLst>
                <a:path h="2360314" w="2360314">
                  <a:moveTo>
                    <a:pt x="0" y="0"/>
                  </a:moveTo>
                  <a:lnTo>
                    <a:pt x="2360314" y="0"/>
                  </a:lnTo>
                  <a:lnTo>
                    <a:pt x="2360314" y="2360315"/>
                  </a:lnTo>
                  <a:lnTo>
                    <a:pt x="0" y="2360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30000"/>
              </a:blip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6130217" y="76200"/>
              <a:ext cx="2252724" cy="2252724"/>
            </a:xfrm>
            <a:custGeom>
              <a:avLst/>
              <a:gdLst/>
              <a:ahLst/>
              <a:cxnLst/>
              <a:rect r="r" b="b" t="t" l="l"/>
              <a:pathLst>
                <a:path h="2252724" w="2252724">
                  <a:moveTo>
                    <a:pt x="0" y="0"/>
                  </a:moveTo>
                  <a:lnTo>
                    <a:pt x="2252723" y="0"/>
                  </a:lnTo>
                  <a:lnTo>
                    <a:pt x="2252723" y="2252724"/>
                  </a:lnTo>
                  <a:lnTo>
                    <a:pt x="0" y="2252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30000"/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217900" y="460606"/>
              <a:ext cx="4046638" cy="1422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Dual-path grading</a:t>
              </a:r>
            </a:p>
            <a:p>
              <a:pPr algn="ctr">
                <a:lnSpc>
                  <a:spcPts val="216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Rule-based ICDR logic cross-checks the trained model.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5205986" y="390267"/>
              <a:ext cx="4046638" cy="2133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Human-in-the-loop safety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Calibrated confidence:  gates referral to an ophthalmologist.</a:t>
              </a:r>
            </a:p>
            <a:p>
              <a:pPr algn="ctr">
                <a:lnSpc>
                  <a:spcPts val="2160"/>
                </a:lnSpc>
                <a:spcBef>
                  <a:spcPct val="0"/>
                </a:spcBef>
              </a:pP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10133586" y="246658"/>
              <a:ext cx="4046638" cy="2489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Validated cross-camera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Ben Graham normalisation and multi-source training,</a:t>
              </a:r>
              <a:r>
                <a:rPr lang="en-US" sz="1800">
                  <a:solidFill>
                    <a:srgbClr val="00000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 tested on an untouched external benchmark.</a:t>
              </a:r>
            </a:p>
            <a:p>
              <a:pPr algn="ctr">
                <a:lnSpc>
                  <a:spcPts val="2160"/>
                </a:lnSpc>
                <a:spcBef>
                  <a:spcPct val="0"/>
                </a:spcBef>
              </a:pP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15174060" y="159306"/>
              <a:ext cx="4046638" cy="2489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Native-language voice output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Diagnosis and care instructions </a:t>
              </a:r>
              <a:r>
                <a:rPr lang="en-US" sz="1800" b="true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read aloud in the patient's language</a:t>
              </a:r>
              <a:r>
                <a:rPr lang="en-US" sz="1800">
                  <a:solidFill>
                    <a:srgbClr val="00000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 for ASHA-led delivery.</a:t>
              </a:r>
            </a:p>
            <a:p>
              <a:pPr algn="ctr">
                <a:lnSpc>
                  <a:spcPts val="21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4762045" y="9449"/>
            <a:ext cx="3313681" cy="1684306"/>
            <a:chOff x="0" y="0"/>
            <a:chExt cx="4418241" cy="224574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736" t="0" r="-1736" b="0"/>
              </a:stretch>
            </a:blipFill>
          </p:spPr>
        </p:sp>
      </p:grpSp>
      <p:sp>
        <p:nvSpPr>
          <p:cNvPr name="Freeform 39" id="39"/>
          <p:cNvSpPr/>
          <p:nvPr/>
        </p:nvSpPr>
        <p:spPr>
          <a:xfrm flipH="false" flipV="false" rot="0">
            <a:off x="1190702" y="3384442"/>
            <a:ext cx="16392293" cy="4302977"/>
          </a:xfrm>
          <a:custGeom>
            <a:avLst/>
            <a:gdLst/>
            <a:ahLst/>
            <a:cxnLst/>
            <a:rect r="r" b="b" t="t" l="l"/>
            <a:pathLst>
              <a:path h="4302977" w="16392293">
                <a:moveTo>
                  <a:pt x="0" y="0"/>
                </a:moveTo>
                <a:lnTo>
                  <a:pt x="16392293" y="0"/>
                </a:lnTo>
                <a:lnTo>
                  <a:pt x="16392293" y="4302977"/>
                </a:lnTo>
                <a:lnTo>
                  <a:pt x="0" y="430297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305002" y="1636605"/>
            <a:ext cx="16170367" cy="1747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12"/>
              </a:lnSpc>
            </a:pPr>
            <a:r>
              <a:rPr lang="en-US" sz="1875" b="true">
                <a:solidFill>
                  <a:srgbClr val="0C597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Kiosk-style remote screening pipeline:</a:t>
            </a:r>
            <a:r>
              <a:rPr lang="en-US" sz="1875" b="true">
                <a:solidFill>
                  <a:srgbClr val="0B4F6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875" b="true">
                <a:solidFill>
                  <a:srgbClr val="13293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 MATLAB + Python pipeline that </a:t>
            </a:r>
            <a:r>
              <a:rPr lang="en-US" sz="1875" b="true">
                <a:solidFill>
                  <a:srgbClr val="F1631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grades diabetic retinopathy severity from a fundus photo</a:t>
            </a:r>
            <a:r>
              <a:rPr lang="en-US" sz="1875" b="true">
                <a:solidFill>
                  <a:srgbClr val="13293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, </a:t>
            </a:r>
            <a:r>
              <a:rPr lang="en-US" sz="1875" b="true">
                <a:solidFill>
                  <a:srgbClr val="F1631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explains its reasoning </a:t>
            </a:r>
            <a:r>
              <a:rPr lang="en-US" sz="1875" b="true">
                <a:solidFill>
                  <a:srgbClr val="13293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with lesion-level evidence and Grad-CAM, </a:t>
            </a:r>
            <a:r>
              <a:rPr lang="en-US" sz="1875" b="true">
                <a:solidFill>
                  <a:srgbClr val="F1631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routes uncertain cases to a human</a:t>
            </a:r>
            <a:r>
              <a:rPr lang="en-US" sz="1875" b="true">
                <a:solidFill>
                  <a:srgbClr val="13293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, and </a:t>
            </a:r>
            <a:r>
              <a:rPr lang="en-US" sz="1875" b="true">
                <a:solidFill>
                  <a:srgbClr val="F1631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models district-level rollout capacity</a:t>
            </a:r>
            <a:r>
              <a:rPr lang="en-US" sz="1875" b="true">
                <a:solidFill>
                  <a:srgbClr val="13293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— so a single ophthalmologist can safely screen 100,000+ patients/year through ASHA workers and PHCs.</a:t>
            </a:r>
          </a:p>
          <a:p>
            <a:pPr algn="just">
              <a:lnSpc>
                <a:spcPts val="2812"/>
              </a:lnSpc>
            </a:pPr>
            <a:r>
              <a:rPr lang="en-US" sz="1875" b="true">
                <a:solidFill>
                  <a:srgbClr val="13293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GitHub Repository: </a:t>
            </a:r>
            <a:r>
              <a:rPr lang="en-US" b="true" sz="1875" u="sng">
                <a:solidFill>
                  <a:srgbClr val="13293D"/>
                </a:solidFill>
                <a:latin typeface="Montserrat Semi-Bold"/>
                <a:ea typeface="Montserrat Semi-Bold"/>
                <a:cs typeface="Montserrat Semi-Bold"/>
                <a:sym typeface="Montserrat Semi-Bold"/>
                <a:hlinkClick r:id="rId10" tooltip="https://github.com/ThePhantom007/Drishti"/>
              </a:rPr>
              <a:t>https://github.com/ThePhantom007/Drishti</a:t>
            </a:r>
          </a:p>
          <a:p>
            <a:pPr algn="just">
              <a:lnSpc>
                <a:spcPts val="2812"/>
              </a:lnSpc>
            </a:pPr>
            <a:r>
              <a:rPr lang="en-US" sz="1875" b="true">
                <a:solidFill>
                  <a:srgbClr val="13293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Live Deployment: </a:t>
            </a:r>
            <a:r>
              <a:rPr lang="en-US" b="true" sz="1875" u="sng">
                <a:solidFill>
                  <a:srgbClr val="13293D"/>
                </a:solidFill>
                <a:latin typeface="Montserrat Semi-Bold"/>
                <a:ea typeface="Montserrat Semi-Bold"/>
                <a:cs typeface="Montserrat Semi-Bold"/>
                <a:sym typeface="Montserrat Semi-Bold"/>
                <a:hlinkClick r:id="rId11" tooltip="https://drishti-frontend-c9mj.onrender.com"/>
              </a:rPr>
              <a:t>https://drishti-frontend-c9mj.onrender.com/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961152" y="982136"/>
            <a:ext cx="9703594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9"/>
              </a:lnSpc>
              <a:spcBef>
                <a:spcPct val="0"/>
              </a:spcBef>
            </a:pPr>
            <a:r>
              <a:rPr lang="en-US" b="true" sz="2324">
                <a:solidFill>
                  <a:srgbClr val="C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Explainable AI Diabetic Retinopathy Screening for Rural India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739312"/>
            <a:ext cx="18288000" cy="547688"/>
            <a:chOff x="0" y="0"/>
            <a:chExt cx="24384000" cy="730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30250"/>
            </a:xfrm>
            <a:custGeom>
              <a:avLst/>
              <a:gdLst/>
              <a:ahLst/>
              <a:cxnLst/>
              <a:rect r="r" b="b" t="t" l="l"/>
              <a:pathLst>
                <a:path h="7302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856789" y="0"/>
            <a:ext cx="7980062" cy="1714500"/>
            <a:chOff x="0" y="0"/>
            <a:chExt cx="10640083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640082" cy="2286000"/>
            </a:xfrm>
            <a:custGeom>
              <a:avLst/>
              <a:gdLst/>
              <a:ahLst/>
              <a:cxnLst/>
              <a:rect r="r" b="b" t="t" l="l"/>
              <a:pathLst>
                <a:path h="2286000" w="10640082">
                  <a:moveTo>
                    <a:pt x="0" y="0"/>
                  </a:moveTo>
                  <a:lnTo>
                    <a:pt x="10640082" y="0"/>
                  </a:lnTo>
                  <a:lnTo>
                    <a:pt x="10640082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-106254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0640083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920"/>
                </a:lnSpc>
              </a:pPr>
              <a:r>
                <a:rPr lang="en-US" sz="4100" b="true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739312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739312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Veyronix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86690" y="186690"/>
            <a:ext cx="1889760" cy="861060"/>
            <a:chOff x="0" y="0"/>
            <a:chExt cx="2519680" cy="1148080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19680" cy="1148080"/>
            </a:xfrm>
            <a:custGeom>
              <a:avLst/>
              <a:gdLst/>
              <a:ahLst/>
              <a:cxnLst/>
              <a:rect r="r" b="b" t="t" l="l"/>
              <a:pathLst>
                <a:path h="1148080" w="2519680">
                  <a:moveTo>
                    <a:pt x="0" y="574040"/>
                  </a:moveTo>
                  <a:cubicBezTo>
                    <a:pt x="0" y="257048"/>
                    <a:pt x="564007" y="0"/>
                    <a:pt x="1259840" y="0"/>
                  </a:cubicBezTo>
                  <a:cubicBezTo>
                    <a:pt x="1955673" y="0"/>
                    <a:pt x="2519680" y="257048"/>
                    <a:pt x="2519680" y="574040"/>
                  </a:cubicBezTo>
                  <a:cubicBezTo>
                    <a:pt x="2519680" y="891032"/>
                    <a:pt x="1955673" y="1148080"/>
                    <a:pt x="1259840" y="1148080"/>
                  </a:cubicBezTo>
                  <a:cubicBezTo>
                    <a:pt x="564007" y="1148080"/>
                    <a:pt x="0" y="891032"/>
                    <a:pt x="0" y="5740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519680" cy="1148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8384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Veyronix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234807" y="1434653"/>
            <a:ext cx="793893" cy="559695"/>
          </a:xfrm>
          <a:custGeom>
            <a:avLst/>
            <a:gdLst/>
            <a:ahLst/>
            <a:cxnLst/>
            <a:rect r="r" b="b" t="t" l="l"/>
            <a:pathLst>
              <a:path h="559695" w="793893">
                <a:moveTo>
                  <a:pt x="0" y="0"/>
                </a:moveTo>
                <a:lnTo>
                  <a:pt x="793893" y="0"/>
                </a:lnTo>
                <a:lnTo>
                  <a:pt x="793893" y="559694"/>
                </a:lnTo>
                <a:lnTo>
                  <a:pt x="0" y="559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815729" y="1434653"/>
            <a:ext cx="793893" cy="559695"/>
          </a:xfrm>
          <a:custGeom>
            <a:avLst/>
            <a:gdLst/>
            <a:ahLst/>
            <a:cxnLst/>
            <a:rect r="r" b="b" t="t" l="l"/>
            <a:pathLst>
              <a:path h="559695" w="793893">
                <a:moveTo>
                  <a:pt x="0" y="0"/>
                </a:moveTo>
                <a:lnTo>
                  <a:pt x="793894" y="0"/>
                </a:lnTo>
                <a:lnTo>
                  <a:pt x="793894" y="559694"/>
                </a:lnTo>
                <a:lnTo>
                  <a:pt x="0" y="559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57954" y="2061156"/>
            <a:ext cx="6237293" cy="6934977"/>
          </a:xfrm>
          <a:custGeom>
            <a:avLst/>
            <a:gdLst/>
            <a:ahLst/>
            <a:cxnLst/>
            <a:rect r="r" b="b" t="t" l="l"/>
            <a:pathLst>
              <a:path h="6934977" w="6237293">
                <a:moveTo>
                  <a:pt x="0" y="0"/>
                </a:moveTo>
                <a:lnTo>
                  <a:pt x="6237294" y="0"/>
                </a:lnTo>
                <a:lnTo>
                  <a:pt x="6237294" y="6934977"/>
                </a:lnTo>
                <a:lnTo>
                  <a:pt x="0" y="69349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4762045" y="9449"/>
            <a:ext cx="3313681" cy="1684306"/>
            <a:chOff x="0" y="0"/>
            <a:chExt cx="4418241" cy="224574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736" t="0" r="-1736" b="0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6895248" y="1935304"/>
            <a:ext cx="11180478" cy="7453652"/>
          </a:xfrm>
          <a:custGeom>
            <a:avLst/>
            <a:gdLst/>
            <a:ahLst/>
            <a:cxnLst/>
            <a:rect r="r" b="b" t="t" l="l"/>
            <a:pathLst>
              <a:path h="7453652" w="11180478">
                <a:moveTo>
                  <a:pt x="0" y="0"/>
                </a:moveTo>
                <a:lnTo>
                  <a:pt x="11180478" y="0"/>
                </a:lnTo>
                <a:lnTo>
                  <a:pt x="11180478" y="7453653"/>
                </a:lnTo>
                <a:lnTo>
                  <a:pt x="0" y="74536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89057" y="1509712"/>
            <a:ext cx="330410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99"/>
              </a:lnSpc>
            </a:pPr>
            <a:r>
              <a:rPr lang="en-US" b="true" sz="2749">
                <a:solidFill>
                  <a:srgbClr val="C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Technology Stack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895373" y="1525729"/>
            <a:ext cx="611076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99"/>
              </a:lnSpc>
            </a:pPr>
            <a:r>
              <a:rPr lang="en-US" b="true" sz="2749">
                <a:solidFill>
                  <a:srgbClr val="C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System Architecture &amp; Data Flow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9129483"/>
            <a:ext cx="164592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i="true">
                <a:solidFill>
                  <a:srgbClr val="4A5A66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Train fast in PyTorch → export ONNX → import into MATLAB (importNetworkFromONNX) for inference + Grad-CAM — a hybrid: fastest iteration where it matters, MathWorks tooling where the problem statement calls for it.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81728" y="76305"/>
            <a:ext cx="8855964" cy="1714500"/>
            <a:chOff x="0" y="0"/>
            <a:chExt cx="11807952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807952" cy="2286000"/>
            </a:xfrm>
            <a:custGeom>
              <a:avLst/>
              <a:gdLst/>
              <a:ahLst/>
              <a:cxnLst/>
              <a:rect r="r" b="b" t="t" l="l"/>
              <a:pathLst>
                <a:path h="2286000" w="11807952">
                  <a:moveTo>
                    <a:pt x="0" y="0"/>
                  </a:moveTo>
                  <a:lnTo>
                    <a:pt x="11807952" y="0"/>
                  </a:lnTo>
                  <a:lnTo>
                    <a:pt x="11807952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-85854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1807952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60"/>
                </a:lnSpc>
              </a:pPr>
              <a:r>
                <a:rPr lang="en-US" sz="3800" b="true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FEASIBILITY AND VIABILITY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762045" y="9449"/>
            <a:ext cx="3313681" cy="1684306"/>
            <a:chOff x="0" y="0"/>
            <a:chExt cx="4418241" cy="22457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736" t="0" r="-1736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43595" y="1500483"/>
            <a:ext cx="16132230" cy="690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20"/>
              </a:lnSpc>
            </a:pPr>
            <a:r>
              <a:rPr lang="en-US" b="true" sz="1880">
                <a:solidFill>
                  <a:srgbClr val="0B4F6C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Feasibility: C</a:t>
            </a:r>
            <a:r>
              <a:rPr lang="en-US" b="true" sz="1880">
                <a:solidFill>
                  <a:srgbClr val="13293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ore classical-CV pipeline runs end-to-end today with no trained model required; the trained severity classifier is tested on Messidor-2, a benchmark completely untouched during training.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86690" y="186690"/>
            <a:ext cx="1889760" cy="861060"/>
            <a:chOff x="0" y="0"/>
            <a:chExt cx="2519680" cy="1148080"/>
          </a:xfrm>
        </p:grpSpPr>
        <p:sp>
          <p:nvSpPr>
            <p:cNvPr name="Freeform 9" id="9" descr="Your startup LOGO"/>
            <p:cNvSpPr/>
            <p:nvPr/>
          </p:nvSpPr>
          <p:spPr>
            <a:xfrm flipH="false" flipV="false" rot="0">
              <a:off x="0" y="0"/>
              <a:ext cx="2519680" cy="1148080"/>
            </a:xfrm>
            <a:custGeom>
              <a:avLst/>
              <a:gdLst/>
              <a:ahLst/>
              <a:cxnLst/>
              <a:rect r="r" b="b" t="t" l="l"/>
              <a:pathLst>
                <a:path h="1148080" w="2519680">
                  <a:moveTo>
                    <a:pt x="0" y="574040"/>
                  </a:moveTo>
                  <a:cubicBezTo>
                    <a:pt x="0" y="257048"/>
                    <a:pt x="564007" y="0"/>
                    <a:pt x="1259840" y="0"/>
                  </a:cubicBezTo>
                  <a:cubicBezTo>
                    <a:pt x="1955673" y="0"/>
                    <a:pt x="2519680" y="257048"/>
                    <a:pt x="2519680" y="574040"/>
                  </a:cubicBezTo>
                  <a:cubicBezTo>
                    <a:pt x="2519680" y="891032"/>
                    <a:pt x="1955673" y="1148080"/>
                    <a:pt x="1259840" y="1148080"/>
                  </a:cubicBezTo>
                  <a:cubicBezTo>
                    <a:pt x="564007" y="1148080"/>
                    <a:pt x="0" y="891032"/>
                    <a:pt x="0" y="5740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519680" cy="1148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8384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Veyronix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807357" y="3077254"/>
            <a:ext cx="1378155" cy="301752"/>
            <a:chOff x="0" y="0"/>
            <a:chExt cx="1837540" cy="4023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37541" cy="402336"/>
            </a:xfrm>
            <a:custGeom>
              <a:avLst/>
              <a:gdLst/>
              <a:ahLst/>
              <a:cxnLst/>
              <a:rect r="r" b="b" t="t" l="l"/>
              <a:pathLst>
                <a:path h="402336" w="1837541">
                  <a:moveTo>
                    <a:pt x="0" y="120650"/>
                  </a:moveTo>
                  <a:cubicBezTo>
                    <a:pt x="0" y="54102"/>
                    <a:pt x="45300" y="0"/>
                    <a:pt x="101022" y="0"/>
                  </a:cubicBezTo>
                  <a:lnTo>
                    <a:pt x="1736518" y="0"/>
                  </a:lnTo>
                  <a:cubicBezTo>
                    <a:pt x="1792346" y="0"/>
                    <a:pt x="1837541" y="54102"/>
                    <a:pt x="1837541" y="120650"/>
                  </a:cubicBezTo>
                  <a:lnTo>
                    <a:pt x="1837541" y="281686"/>
                  </a:lnTo>
                  <a:cubicBezTo>
                    <a:pt x="1837541" y="348361"/>
                    <a:pt x="1792240" y="402336"/>
                    <a:pt x="1736518" y="402336"/>
                  </a:cubicBezTo>
                  <a:lnTo>
                    <a:pt x="101022" y="402336"/>
                  </a:lnTo>
                  <a:cubicBezTo>
                    <a:pt x="45194" y="402336"/>
                    <a:pt x="0" y="348234"/>
                    <a:pt x="0" y="281686"/>
                  </a:cubicBezTo>
                  <a:close/>
                </a:path>
              </a:pathLst>
            </a:custGeom>
            <a:solidFill>
              <a:srgbClr val="E76F51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807357" y="3927646"/>
            <a:ext cx="1708913" cy="301752"/>
            <a:chOff x="0" y="0"/>
            <a:chExt cx="2278550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78529" cy="402336"/>
            </a:xfrm>
            <a:custGeom>
              <a:avLst/>
              <a:gdLst/>
              <a:ahLst/>
              <a:cxnLst/>
              <a:rect r="r" b="b" t="t" l="l"/>
              <a:pathLst>
                <a:path h="402336" w="2278529">
                  <a:moveTo>
                    <a:pt x="0" y="120650"/>
                  </a:moveTo>
                  <a:cubicBezTo>
                    <a:pt x="0" y="54102"/>
                    <a:pt x="45300" y="0"/>
                    <a:pt x="101022" y="0"/>
                  </a:cubicBezTo>
                  <a:lnTo>
                    <a:pt x="2177507" y="0"/>
                  </a:lnTo>
                  <a:cubicBezTo>
                    <a:pt x="2233335" y="0"/>
                    <a:pt x="2278529" y="54102"/>
                    <a:pt x="2278529" y="120650"/>
                  </a:cubicBezTo>
                  <a:lnTo>
                    <a:pt x="2278529" y="281686"/>
                  </a:lnTo>
                  <a:cubicBezTo>
                    <a:pt x="2278529" y="348361"/>
                    <a:pt x="2233228" y="402336"/>
                    <a:pt x="2177507" y="402336"/>
                  </a:cubicBezTo>
                  <a:lnTo>
                    <a:pt x="101022" y="402336"/>
                  </a:lnTo>
                  <a:cubicBezTo>
                    <a:pt x="45194" y="402336"/>
                    <a:pt x="0" y="348234"/>
                    <a:pt x="0" y="281686"/>
                  </a:cubicBezTo>
                  <a:close/>
                </a:path>
              </a:pathLst>
            </a:custGeom>
            <a:solidFill>
              <a:srgbClr val="14919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807357" y="4778038"/>
            <a:ext cx="2179782" cy="378787"/>
            <a:chOff x="0" y="0"/>
            <a:chExt cx="2315301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15216" cy="402336"/>
            </a:xfrm>
            <a:custGeom>
              <a:avLst/>
              <a:gdLst/>
              <a:ahLst/>
              <a:cxnLst/>
              <a:rect r="r" b="b" t="t" l="l"/>
              <a:pathLst>
                <a:path h="402336" w="2315216">
                  <a:moveTo>
                    <a:pt x="0" y="120650"/>
                  </a:moveTo>
                  <a:cubicBezTo>
                    <a:pt x="0" y="54102"/>
                    <a:pt x="45300" y="0"/>
                    <a:pt x="101022" y="0"/>
                  </a:cubicBezTo>
                  <a:lnTo>
                    <a:pt x="2214194" y="0"/>
                  </a:lnTo>
                  <a:cubicBezTo>
                    <a:pt x="2270022" y="0"/>
                    <a:pt x="2315216" y="54102"/>
                    <a:pt x="2315216" y="120650"/>
                  </a:cubicBezTo>
                  <a:lnTo>
                    <a:pt x="2315216" y="281686"/>
                  </a:lnTo>
                  <a:cubicBezTo>
                    <a:pt x="2315216" y="348361"/>
                    <a:pt x="2269916" y="402336"/>
                    <a:pt x="2214194" y="402336"/>
                  </a:cubicBezTo>
                  <a:lnTo>
                    <a:pt x="101022" y="402336"/>
                  </a:lnTo>
                  <a:cubicBezTo>
                    <a:pt x="45194" y="402336"/>
                    <a:pt x="0" y="348234"/>
                    <a:pt x="0" y="281686"/>
                  </a:cubicBezTo>
                  <a:close/>
                </a:path>
              </a:pathLst>
            </a:custGeom>
            <a:solidFill>
              <a:srgbClr val="0B4F6C"/>
            </a:solidFill>
          </p:spPr>
        </p:sp>
      </p:grp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583637" y="5933887"/>
          <a:ext cx="17273588" cy="3442335"/>
        </p:xfrm>
        <a:graphic>
          <a:graphicData uri="http://schemas.openxmlformats.org/drawingml/2006/table">
            <a:tbl>
              <a:tblPr/>
              <a:tblGrid>
                <a:gridCol w="4249851"/>
                <a:gridCol w="5620770"/>
                <a:gridCol w="7402967"/>
              </a:tblGrid>
              <a:tr h="57372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Risk</a:t>
                      </a:r>
                      <a:endParaRPr lang="en-US" sz="1100"/>
                    </a:p>
                  </a:txBody>
                  <a:tcPr marL="76810" marR="76810" marT="76810" marB="76810" anchor="ctr">
                    <a:lnL cmpd="sng" algn="ctr" cap="flat" w="19050">
                      <a:solidFill>
                        <a:srgbClr val="0B4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B4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631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Why it matters</a:t>
                      </a:r>
                      <a:endParaRPr lang="en-US" sz="1100"/>
                    </a:p>
                  </a:txBody>
                  <a:tcPr marL="76810" marR="76810" marT="76810" marB="7681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B4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Mitigation strategy</a:t>
                      </a:r>
                      <a:endParaRPr lang="en-US" sz="1100"/>
                    </a:p>
                  </a:txBody>
                  <a:tcPr marL="76810" marR="76810" marT="76810" marB="7681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B4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B4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5737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sz="1425" b="true">
                          <a:solidFill>
                            <a:srgbClr val="08384D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Cross-camera domain shift</a:t>
                      </a:r>
                      <a:endParaRPr lang="en-US" sz="1100"/>
                    </a:p>
                  </a:txBody>
                  <a:tcPr marL="76810" marR="76810" marT="76810" marB="76810" anchor="ctr">
                    <a:lnL cmpd="sng" algn="ctr" cap="flat" w="19050">
                      <a:solidFill>
                        <a:srgbClr val="0B4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sz="1425" b="true">
                          <a:solidFill>
                            <a:srgbClr val="13293D"/>
                          </a:solidFill>
                          <a:latin typeface="Montserrat Semi-Bold"/>
                          <a:ea typeface="Montserrat Semi-Bold"/>
                          <a:cs typeface="Montserrat Semi-Bold"/>
                          <a:sym typeface="Montserrat Semi-Bold"/>
                        </a:rPr>
                        <a:t>Confirmed via external Messidor-2 testing</a:t>
                      </a:r>
                      <a:endParaRPr lang="en-US" sz="1100"/>
                    </a:p>
                  </a:txBody>
                  <a:tcPr marL="76810" marR="76810" marT="76810" marB="7681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sz="1425" b="true">
                          <a:solidFill>
                            <a:srgbClr val="13293D"/>
                          </a:solidFill>
                          <a:latin typeface="Montserrat Semi-Bold"/>
                          <a:ea typeface="Montserrat Semi-Bold"/>
                          <a:cs typeface="Montserrat Semi-Bold"/>
                          <a:sym typeface="Montserrat Semi-Bold"/>
                        </a:rPr>
                        <a:t>Ben Graham color normalisation + multi-source (APTOS+IDRiD) training</a:t>
                      </a:r>
                      <a:endParaRPr lang="en-US" sz="1100"/>
                    </a:p>
                  </a:txBody>
                  <a:tcPr marL="76810" marR="76810" marT="76810" marB="7681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B4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</a:tr>
              <a:tr h="5737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sz="1425" b="true">
                          <a:solidFill>
                            <a:srgbClr val="08384D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Rare-class (severe/PDR) data scarcity</a:t>
                      </a:r>
                      <a:endParaRPr lang="en-US" sz="1100"/>
                    </a:p>
                  </a:txBody>
                  <a:tcPr marL="76810" marR="76810" marT="76810" marB="76810" anchor="ctr">
                    <a:lnL cmpd="sng" algn="ctr" cap="flat" w="19050">
                      <a:solidFill>
                        <a:srgbClr val="0B4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sz="1425" b="true">
                          <a:solidFill>
                            <a:srgbClr val="13293D"/>
                          </a:solidFill>
                          <a:latin typeface="Montserrat Semi-Bold"/>
                          <a:ea typeface="Montserrat Semi-Bold"/>
                          <a:cs typeface="Montserrat Semi-Bold"/>
                          <a:sym typeface="Montserrat Semi-Bold"/>
                        </a:rPr>
                        <a:t>Causes unstable, biased predictions</a:t>
                      </a:r>
                      <a:endParaRPr lang="en-US" sz="1100"/>
                    </a:p>
                  </a:txBody>
                  <a:tcPr marL="76810" marR="76810" marT="76810" marB="7681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sz="1425" b="true">
                          <a:solidFill>
                            <a:srgbClr val="13293D"/>
                          </a:solidFill>
                          <a:latin typeface="Montserrat Semi-Bold"/>
                          <a:ea typeface="Montserrat Semi-Bold"/>
                          <a:cs typeface="Montserrat Semi-Bold"/>
                          <a:sym typeface="Montserrat Semi-Bold"/>
                        </a:rPr>
                        <a:t>Class-weighted sampling + ordinal-aware loss + seed/checkpoint selection</a:t>
                      </a:r>
                      <a:endParaRPr lang="en-US" sz="1100"/>
                    </a:p>
                  </a:txBody>
                  <a:tcPr marL="76810" marR="76810" marT="76810" marB="7681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B4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37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sz="1425" b="true">
                          <a:solidFill>
                            <a:srgbClr val="08384D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Silent misdiagnosis risk</a:t>
                      </a:r>
                      <a:endParaRPr lang="en-US" sz="1100"/>
                    </a:p>
                  </a:txBody>
                  <a:tcPr marL="76810" marR="76810" marT="76810" marB="76810" anchor="ctr">
                    <a:lnL cmpd="sng" algn="ctr" cap="flat" w="19050">
                      <a:solidFill>
                        <a:srgbClr val="0B4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sz="1425" b="true">
                          <a:solidFill>
                            <a:srgbClr val="13293D"/>
                          </a:solidFill>
                          <a:latin typeface="Montserrat Semi-Bold"/>
                          <a:ea typeface="Montserrat Semi-Bold"/>
                          <a:cs typeface="Montserrat Semi-Bold"/>
                          <a:sym typeface="Montserrat Semi-Bold"/>
                        </a:rPr>
                        <a:t>Any AI-alone system can be confidently wrong</a:t>
                      </a:r>
                      <a:endParaRPr lang="en-US" sz="1100"/>
                    </a:p>
                  </a:txBody>
                  <a:tcPr marL="76810" marR="76810" marT="76810" marB="7681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sz="1425" b="true">
                          <a:solidFill>
                            <a:srgbClr val="13293D"/>
                          </a:solidFill>
                          <a:latin typeface="Montserrat Semi-Bold"/>
                          <a:ea typeface="Montserrat Semi-Bold"/>
                          <a:cs typeface="Montserrat Semi-Bold"/>
                          <a:sym typeface="Montserrat Semi-Bold"/>
                        </a:rPr>
                        <a:t>Calibrated confidence gates mandatory human review, never a silent miss</a:t>
                      </a:r>
                      <a:endParaRPr lang="en-US" sz="1100"/>
                    </a:p>
                  </a:txBody>
                  <a:tcPr marL="76810" marR="76810" marT="76810" marB="7681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B4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</a:tr>
              <a:tr h="5737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sz="1425" b="true">
                          <a:solidFill>
                            <a:srgbClr val="08384D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District rollout planning</a:t>
                      </a:r>
                      <a:endParaRPr lang="en-US" sz="1100"/>
                    </a:p>
                  </a:txBody>
                  <a:tcPr marL="76810" marR="76810" marT="76810" marB="76810" anchor="ctr">
                    <a:lnL cmpd="sng" algn="ctr" cap="flat" w="19050">
                      <a:solidFill>
                        <a:srgbClr val="0B4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B4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sz="1425" b="true">
                          <a:solidFill>
                            <a:srgbClr val="13293D"/>
                          </a:solidFill>
                          <a:latin typeface="Montserrat Semi-Bold"/>
                          <a:ea typeface="Montserrat Semi-Bold"/>
                          <a:cs typeface="Montserrat Semi-Bold"/>
                          <a:sym typeface="Montserrat Semi-Bold"/>
                        </a:rPr>
                        <a:t>Unknown staffing/bandwidth needs</a:t>
                      </a:r>
                      <a:endParaRPr lang="en-US" sz="1100"/>
                    </a:p>
                  </a:txBody>
                  <a:tcPr marL="76810" marR="76810" marT="76810" marB="7681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B4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sz="1425" b="true">
                          <a:solidFill>
                            <a:srgbClr val="13293D"/>
                          </a:solidFill>
                          <a:latin typeface="Montserrat Semi-Bold"/>
                          <a:ea typeface="Montserrat Semi-Bold"/>
                          <a:cs typeface="Montserrat Semi-Bold"/>
                          <a:sym typeface="Montserrat Semi-Bold"/>
                        </a:rPr>
                        <a:t>Simulink capacity model sizes reviewers &amp; bandwidth for target volume</a:t>
                      </a:r>
                      <a:endParaRPr lang="en-US" sz="1100"/>
                    </a:p>
                  </a:txBody>
                  <a:tcPr marL="76810" marR="76810" marT="76810" marB="7681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B4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B4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3722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170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425" strike="noStrike" u="none">
                          <a:solidFill>
                            <a:srgbClr val="08384D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Field-worker adoption &amp; digital literacy​</a:t>
                      </a:r>
                      <a:endParaRPr lang="en-US" sz="1100"/>
                    </a:p>
                  </a:txBody>
                  <a:tcPr marL="76810" marR="76810" marT="76810" marB="76810" anchor="ctr">
                    <a:lnL cmpd="sng" algn="ctr" cap="flat" w="19050">
                      <a:solidFill>
                        <a:srgbClr val="0B4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sz="1425" b="true">
                          <a:solidFill>
                            <a:srgbClr val="13293D"/>
                          </a:solidFill>
                          <a:latin typeface="Montserrat Semi-Bold"/>
                          <a:ea typeface="Montserrat Semi-Bold"/>
                          <a:cs typeface="Montserrat Semi-Bold"/>
                          <a:sym typeface="Montserrat Semi-Bold"/>
                        </a:rPr>
                        <a:t>ASHA workers need a one-handed usable tool</a:t>
                      </a:r>
                      <a:endParaRPr lang="en-US" sz="1100"/>
                    </a:p>
                  </a:txBody>
                  <a:tcPr marL="76810" marR="76810" marT="76810" marB="7681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sz="1425" b="true">
                          <a:solidFill>
                            <a:srgbClr val="13293D"/>
                          </a:solidFill>
                          <a:latin typeface="Montserrat Semi-Bold"/>
                          <a:ea typeface="Montserrat Semi-Bold"/>
                          <a:cs typeface="Montserrat Semi-Bold"/>
                          <a:sym typeface="Montserrat Semi-Bold"/>
                        </a:rPr>
                        <a:t>Android deployment of a lightweight app with native language read-outs</a:t>
                      </a:r>
                      <a:endParaRPr lang="en-US" sz="1100"/>
                    </a:p>
                  </a:txBody>
                  <a:tcPr marL="76810" marR="76810" marT="76810" marB="7681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B4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</a:tr>
            </a:tbl>
          </a:graphicData>
        </a:graphic>
      </p:graphicFrame>
      <p:sp>
        <p:nvSpPr>
          <p:cNvPr name="Freeform 18" id="18"/>
          <p:cNvSpPr/>
          <p:nvPr/>
        </p:nvSpPr>
        <p:spPr>
          <a:xfrm flipH="false" flipV="false" rot="0">
            <a:off x="8956112" y="2374033"/>
            <a:ext cx="8017727" cy="3052363"/>
          </a:xfrm>
          <a:custGeom>
            <a:avLst/>
            <a:gdLst/>
            <a:ahLst/>
            <a:cxnLst/>
            <a:rect r="r" b="b" t="t" l="l"/>
            <a:pathLst>
              <a:path h="3052363" w="8017727">
                <a:moveTo>
                  <a:pt x="0" y="0"/>
                </a:moveTo>
                <a:lnTo>
                  <a:pt x="8017727" y="0"/>
                </a:lnTo>
                <a:lnTo>
                  <a:pt x="8017727" y="3052362"/>
                </a:lnTo>
                <a:lnTo>
                  <a:pt x="0" y="30523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132277" y="2318302"/>
            <a:ext cx="744008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0B4F6C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Iteration Evidence (external Messidor-2 benchmark)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32277" y="3049822"/>
            <a:ext cx="361765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3293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1.</a:t>
            </a:r>
            <a:r>
              <a:rPr lang="en-US" sz="1800" b="true">
                <a:solidFill>
                  <a:srgbClr val="13293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Baseline model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271953" y="3128117"/>
            <a:ext cx="803924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>
                <a:solidFill>
                  <a:srgbClr val="F1631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0.50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32277" y="3900214"/>
            <a:ext cx="361765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3293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2.</a:t>
            </a:r>
            <a:r>
              <a:rPr lang="en-US" sz="1800" b="true">
                <a:solidFill>
                  <a:srgbClr val="13293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Ben Graham norm. + IDRiD data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56382" y="3953078"/>
            <a:ext cx="803924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4919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0.62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2277" y="4750606"/>
            <a:ext cx="361765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3293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3.Weighted ensemble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075877" y="4855381"/>
            <a:ext cx="803924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0B4F6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0.74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055416" y="2717399"/>
            <a:ext cx="4260194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4" i="true">
                <a:solidFill>
                  <a:srgbClr val="F16315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Referable-DR sensitivity (target ≥ 0.90)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47171" y="5397718"/>
            <a:ext cx="82296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0B4F6C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Key Risks — Identified &amp; Addressed Through Testing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86690" y="2190855"/>
            <a:ext cx="793893" cy="559695"/>
          </a:xfrm>
          <a:custGeom>
            <a:avLst/>
            <a:gdLst/>
            <a:ahLst/>
            <a:cxnLst/>
            <a:rect r="r" b="b" t="t" l="l"/>
            <a:pathLst>
              <a:path h="559695" w="793893">
                <a:moveTo>
                  <a:pt x="0" y="0"/>
                </a:moveTo>
                <a:lnTo>
                  <a:pt x="793893" y="0"/>
                </a:lnTo>
                <a:lnTo>
                  <a:pt x="793893" y="559694"/>
                </a:lnTo>
                <a:lnTo>
                  <a:pt x="0" y="5596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290267" y="5270271"/>
            <a:ext cx="793893" cy="559695"/>
          </a:xfrm>
          <a:custGeom>
            <a:avLst/>
            <a:gdLst/>
            <a:ahLst/>
            <a:cxnLst/>
            <a:rect r="r" b="b" t="t" l="l"/>
            <a:pathLst>
              <a:path h="559695" w="793893">
                <a:moveTo>
                  <a:pt x="0" y="0"/>
                </a:moveTo>
                <a:lnTo>
                  <a:pt x="793893" y="0"/>
                </a:lnTo>
                <a:lnTo>
                  <a:pt x="793893" y="559695"/>
                </a:lnTo>
                <a:lnTo>
                  <a:pt x="0" y="5596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0" y="9739312"/>
            <a:ext cx="18288000" cy="547688"/>
            <a:chOff x="0" y="0"/>
            <a:chExt cx="24384000" cy="7302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384000" cy="730250"/>
            </a:xfrm>
            <a:custGeom>
              <a:avLst/>
              <a:gdLst/>
              <a:ahLst/>
              <a:cxnLst/>
              <a:rect r="r" b="b" t="t" l="l"/>
              <a:pathLst>
                <a:path h="7302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106400" y="9739312"/>
            <a:ext cx="4267200" cy="547688"/>
            <a:chOff x="0" y="0"/>
            <a:chExt cx="5689600" cy="7302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972300" y="9739312"/>
            <a:ext cx="4806001" cy="547688"/>
            <a:chOff x="0" y="0"/>
            <a:chExt cx="6408001" cy="7302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Veyronix</a:t>
              </a:r>
            </a:p>
          </p:txBody>
        </p:sp>
      </p:grpSp>
      <p:graphicFrame>
        <p:nvGraphicFramePr>
          <p:cNvPr name="Table 38" id="38"/>
          <p:cNvGraphicFramePr>
            <a:graphicFrameLocks noGrp="true"/>
          </p:cNvGraphicFramePr>
          <p:nvPr/>
        </p:nvGraphicFramePr>
        <p:xfrm>
          <a:off x="590780" y="7652674"/>
          <a:ext cx="17259300" cy="575310"/>
        </p:xfrm>
        <a:graphic>
          <a:graphicData uri="http://schemas.openxmlformats.org/drawingml/2006/table">
            <a:tbl>
              <a:tblPr/>
              <a:tblGrid>
                <a:gridCol w="4246336"/>
                <a:gridCol w="5616120"/>
                <a:gridCol w="7396843"/>
              </a:tblGrid>
              <a:tr h="57531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sz="1425" b="true">
                          <a:solidFill>
                            <a:srgbClr val="08384D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Silent misdiagnosis risk</a:t>
                      </a:r>
                      <a:endParaRPr lang="en-US" sz="1100"/>
                    </a:p>
                  </a:txBody>
                  <a:tcPr marL="76810" marR="76810" marT="76810" marB="76810" anchor="ctr">
                    <a:lnL cmpd="sng" algn="ctr" cap="flat" w="19050">
                      <a:solidFill>
                        <a:srgbClr val="0B4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sz="1425" b="true">
                          <a:solidFill>
                            <a:srgbClr val="13293D"/>
                          </a:solidFill>
                          <a:latin typeface="Montserrat Semi-Bold"/>
                          <a:ea typeface="Montserrat Semi-Bold"/>
                          <a:cs typeface="Montserrat Semi-Bold"/>
                          <a:sym typeface="Montserrat Semi-Bold"/>
                        </a:rPr>
                        <a:t>Any AI-alone system can be confidently wrong</a:t>
                      </a:r>
                      <a:endParaRPr lang="en-US" sz="1100"/>
                    </a:p>
                  </a:txBody>
                  <a:tcPr marL="76810" marR="76810" marT="76810" marB="7681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sz="1425" b="true">
                          <a:solidFill>
                            <a:srgbClr val="13293D"/>
                          </a:solidFill>
                          <a:latin typeface="Montserrat Semi-Bold"/>
                          <a:ea typeface="Montserrat Semi-Bold"/>
                          <a:cs typeface="Montserrat Semi-Bold"/>
                          <a:sym typeface="Montserrat Semi-Bold"/>
                        </a:rPr>
                        <a:t>Calibrated confidence gates mandatory human review, never a silent miss</a:t>
                      </a:r>
                      <a:endParaRPr lang="en-US" sz="1100"/>
                    </a:p>
                  </a:txBody>
                  <a:tcPr marL="76810" marR="76810" marT="76810" marB="7681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B4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1945600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60"/>
                </a:lnSpc>
              </a:pPr>
              <a:r>
                <a:rPr lang="en-US" sz="3800" b="true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IMPACT AND BENEFITS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6690" y="186690"/>
            <a:ext cx="1889760" cy="861060"/>
            <a:chOff x="0" y="0"/>
            <a:chExt cx="2519680" cy="1148080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2519680" cy="1148080"/>
            </a:xfrm>
            <a:custGeom>
              <a:avLst/>
              <a:gdLst/>
              <a:ahLst/>
              <a:cxnLst/>
              <a:rect r="r" b="b" t="t" l="l"/>
              <a:pathLst>
                <a:path h="1148080" w="2519680">
                  <a:moveTo>
                    <a:pt x="0" y="574040"/>
                  </a:moveTo>
                  <a:cubicBezTo>
                    <a:pt x="0" y="257048"/>
                    <a:pt x="564007" y="0"/>
                    <a:pt x="1259840" y="0"/>
                  </a:cubicBezTo>
                  <a:cubicBezTo>
                    <a:pt x="1955673" y="0"/>
                    <a:pt x="2519680" y="257048"/>
                    <a:pt x="2519680" y="574040"/>
                  </a:cubicBezTo>
                  <a:cubicBezTo>
                    <a:pt x="2519680" y="891032"/>
                    <a:pt x="1955673" y="1148080"/>
                    <a:pt x="1259840" y="1148080"/>
                  </a:cubicBezTo>
                  <a:cubicBezTo>
                    <a:pt x="564007" y="1148080"/>
                    <a:pt x="0" y="891032"/>
                    <a:pt x="0" y="5740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519680" cy="1148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8384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Veyronix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826651" y="1815465"/>
            <a:ext cx="6170422" cy="2103268"/>
            <a:chOff x="0" y="0"/>
            <a:chExt cx="1768594" cy="6028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68594" cy="602848"/>
            </a:xfrm>
            <a:custGeom>
              <a:avLst/>
              <a:gdLst/>
              <a:ahLst/>
              <a:cxnLst/>
              <a:rect r="r" b="b" t="t" l="l"/>
              <a:pathLst>
                <a:path h="602848" w="1768594">
                  <a:moveTo>
                    <a:pt x="57715" y="0"/>
                  </a:moveTo>
                  <a:lnTo>
                    <a:pt x="1710879" y="0"/>
                  </a:lnTo>
                  <a:cubicBezTo>
                    <a:pt x="1726186" y="0"/>
                    <a:pt x="1740866" y="6081"/>
                    <a:pt x="1751690" y="16904"/>
                  </a:cubicBezTo>
                  <a:cubicBezTo>
                    <a:pt x="1762514" y="27728"/>
                    <a:pt x="1768594" y="42408"/>
                    <a:pt x="1768594" y="57715"/>
                  </a:cubicBezTo>
                  <a:lnTo>
                    <a:pt x="1768594" y="545133"/>
                  </a:lnTo>
                  <a:cubicBezTo>
                    <a:pt x="1768594" y="560440"/>
                    <a:pt x="1762514" y="575120"/>
                    <a:pt x="1751690" y="585944"/>
                  </a:cubicBezTo>
                  <a:cubicBezTo>
                    <a:pt x="1740866" y="596767"/>
                    <a:pt x="1726186" y="602848"/>
                    <a:pt x="1710879" y="602848"/>
                  </a:cubicBezTo>
                  <a:lnTo>
                    <a:pt x="57715" y="602848"/>
                  </a:lnTo>
                  <a:cubicBezTo>
                    <a:pt x="42408" y="602848"/>
                    <a:pt x="27728" y="596767"/>
                    <a:pt x="16904" y="585944"/>
                  </a:cubicBezTo>
                  <a:cubicBezTo>
                    <a:pt x="6081" y="575120"/>
                    <a:pt x="0" y="560440"/>
                    <a:pt x="0" y="545133"/>
                  </a:cubicBezTo>
                  <a:lnTo>
                    <a:pt x="0" y="57715"/>
                  </a:lnTo>
                  <a:cubicBezTo>
                    <a:pt x="0" y="42408"/>
                    <a:pt x="6081" y="27728"/>
                    <a:pt x="16904" y="16904"/>
                  </a:cubicBezTo>
                  <a:cubicBezTo>
                    <a:pt x="27728" y="6081"/>
                    <a:pt x="42408" y="0"/>
                    <a:pt x="57715" y="0"/>
                  </a:cubicBezTo>
                  <a:close/>
                </a:path>
              </a:pathLst>
            </a:custGeom>
            <a:ln w="38100" cap="rnd">
              <a:solidFill>
                <a:srgbClr val="0B4F6C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768594" cy="6314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699456" y="1349980"/>
            <a:ext cx="4107253" cy="756045"/>
            <a:chOff x="0" y="0"/>
            <a:chExt cx="1472053" cy="2709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72053" cy="270969"/>
            </a:xfrm>
            <a:custGeom>
              <a:avLst/>
              <a:gdLst/>
              <a:ahLst/>
              <a:cxnLst/>
              <a:rect r="r" b="b" t="t" l="l"/>
              <a:pathLst>
                <a:path h="270969" w="1472053">
                  <a:moveTo>
                    <a:pt x="135484" y="0"/>
                  </a:moveTo>
                  <a:lnTo>
                    <a:pt x="1336568" y="0"/>
                  </a:lnTo>
                  <a:cubicBezTo>
                    <a:pt x="1411394" y="0"/>
                    <a:pt x="1472053" y="60658"/>
                    <a:pt x="1472053" y="135484"/>
                  </a:cubicBezTo>
                  <a:lnTo>
                    <a:pt x="1472053" y="135484"/>
                  </a:lnTo>
                  <a:cubicBezTo>
                    <a:pt x="1472053" y="210310"/>
                    <a:pt x="1411394" y="270969"/>
                    <a:pt x="1336568" y="270969"/>
                  </a:cubicBezTo>
                  <a:lnTo>
                    <a:pt x="135484" y="270969"/>
                  </a:lnTo>
                  <a:cubicBezTo>
                    <a:pt x="60658" y="270969"/>
                    <a:pt x="0" y="210310"/>
                    <a:pt x="0" y="135484"/>
                  </a:cubicBezTo>
                  <a:lnTo>
                    <a:pt x="0" y="135484"/>
                  </a:lnTo>
                  <a:cubicBezTo>
                    <a:pt x="0" y="60658"/>
                    <a:pt x="60658" y="0"/>
                    <a:pt x="135484" y="0"/>
                  </a:cubicBezTo>
                  <a:close/>
                </a:path>
              </a:pathLst>
            </a:custGeom>
            <a:solidFill>
              <a:srgbClr val="0B4F6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472053" cy="318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1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558893" y="1200128"/>
            <a:ext cx="1140562" cy="1088718"/>
            <a:chOff x="0" y="0"/>
            <a:chExt cx="851505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51505" cy="812800"/>
            </a:xfrm>
            <a:custGeom>
              <a:avLst/>
              <a:gdLst/>
              <a:ahLst/>
              <a:cxnLst/>
              <a:rect r="r" b="b" t="t" l="l"/>
              <a:pathLst>
                <a:path h="812800" w="851505">
                  <a:moveTo>
                    <a:pt x="425753" y="0"/>
                  </a:moveTo>
                  <a:cubicBezTo>
                    <a:pt x="190616" y="0"/>
                    <a:pt x="0" y="181951"/>
                    <a:pt x="0" y="406400"/>
                  </a:cubicBezTo>
                  <a:cubicBezTo>
                    <a:pt x="0" y="630849"/>
                    <a:pt x="190616" y="812800"/>
                    <a:pt x="425753" y="812800"/>
                  </a:cubicBezTo>
                  <a:cubicBezTo>
                    <a:pt x="660889" y="812800"/>
                    <a:pt x="851505" y="630849"/>
                    <a:pt x="851505" y="406400"/>
                  </a:cubicBezTo>
                  <a:cubicBezTo>
                    <a:pt x="851505" y="181951"/>
                    <a:pt x="660889" y="0"/>
                    <a:pt x="425753" y="0"/>
                  </a:cubicBezTo>
                  <a:close/>
                </a:path>
              </a:pathLst>
            </a:custGeom>
            <a:solidFill>
              <a:srgbClr val="BBDA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9829" y="28575"/>
              <a:ext cx="691848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1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3473631" y="2206026"/>
            <a:ext cx="5284814" cy="5346115"/>
            <a:chOff x="0" y="0"/>
            <a:chExt cx="812800" cy="8222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22228"/>
            </a:xfrm>
            <a:custGeom>
              <a:avLst/>
              <a:gdLst/>
              <a:ahLst/>
              <a:cxnLst/>
              <a:rect r="r" b="b" t="t" l="l"/>
              <a:pathLst>
                <a:path h="822228" w="812800">
                  <a:moveTo>
                    <a:pt x="406400" y="0"/>
                  </a:moveTo>
                  <a:cubicBezTo>
                    <a:pt x="181951" y="0"/>
                    <a:pt x="0" y="184062"/>
                    <a:pt x="0" y="411114"/>
                  </a:cubicBezTo>
                  <a:cubicBezTo>
                    <a:pt x="0" y="638166"/>
                    <a:pt x="181951" y="822228"/>
                    <a:pt x="406400" y="822228"/>
                  </a:cubicBezTo>
                  <a:cubicBezTo>
                    <a:pt x="630849" y="822228"/>
                    <a:pt x="812800" y="638166"/>
                    <a:pt x="812800" y="411114"/>
                  </a:cubicBezTo>
                  <a:cubicBezTo>
                    <a:pt x="812800" y="184062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0C5575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48509"/>
              <a:ext cx="660400" cy="696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501399" y="1797812"/>
            <a:ext cx="1299596" cy="0"/>
          </a:xfrm>
          <a:prstGeom prst="line">
            <a:avLst/>
          </a:prstGeom>
          <a:ln cap="flat" w="38100">
            <a:solidFill>
              <a:srgbClr val="0C557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V="true">
            <a:off x="747365" y="1815465"/>
            <a:ext cx="754034" cy="919786"/>
          </a:xfrm>
          <a:prstGeom prst="line">
            <a:avLst/>
          </a:prstGeom>
          <a:ln cap="flat" w="47625">
            <a:solidFill>
              <a:srgbClr val="0C557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3129175" y="4445225"/>
            <a:ext cx="5867899" cy="2051743"/>
            <a:chOff x="0" y="0"/>
            <a:chExt cx="1681884" cy="588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81884" cy="588080"/>
            </a:xfrm>
            <a:custGeom>
              <a:avLst/>
              <a:gdLst/>
              <a:ahLst/>
              <a:cxnLst/>
              <a:rect r="r" b="b" t="t" l="l"/>
              <a:pathLst>
                <a:path h="588080" w="1681884">
                  <a:moveTo>
                    <a:pt x="60691" y="0"/>
                  </a:moveTo>
                  <a:lnTo>
                    <a:pt x="1621193" y="0"/>
                  </a:lnTo>
                  <a:cubicBezTo>
                    <a:pt x="1654711" y="0"/>
                    <a:pt x="1681884" y="27172"/>
                    <a:pt x="1681884" y="60691"/>
                  </a:cubicBezTo>
                  <a:lnTo>
                    <a:pt x="1681884" y="527389"/>
                  </a:lnTo>
                  <a:cubicBezTo>
                    <a:pt x="1681884" y="560907"/>
                    <a:pt x="1654711" y="588080"/>
                    <a:pt x="1621193" y="588080"/>
                  </a:cubicBezTo>
                  <a:lnTo>
                    <a:pt x="60691" y="588080"/>
                  </a:lnTo>
                  <a:cubicBezTo>
                    <a:pt x="27172" y="588080"/>
                    <a:pt x="0" y="560907"/>
                    <a:pt x="0" y="527389"/>
                  </a:cubicBezTo>
                  <a:lnTo>
                    <a:pt x="0" y="60691"/>
                  </a:lnTo>
                  <a:cubicBezTo>
                    <a:pt x="0" y="27172"/>
                    <a:pt x="27172" y="0"/>
                    <a:pt x="60691" y="0"/>
                  </a:cubicBezTo>
                  <a:close/>
                </a:path>
              </a:pathLst>
            </a:custGeom>
            <a:ln w="38100" cap="rnd">
              <a:solidFill>
                <a:srgbClr val="F16315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1681884" cy="616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5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218484" y="3918732"/>
            <a:ext cx="1138227" cy="1138227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FEC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19"/>
                </a:lnSpc>
              </a:pPr>
            </a:p>
          </p:txBody>
        </p:sp>
      </p:grpSp>
      <p:sp>
        <p:nvSpPr>
          <p:cNvPr name="AutoShape 28" id="28"/>
          <p:cNvSpPr/>
          <p:nvPr/>
        </p:nvSpPr>
        <p:spPr>
          <a:xfrm>
            <a:off x="1811183" y="4487846"/>
            <a:ext cx="1684379" cy="0"/>
          </a:xfrm>
          <a:prstGeom prst="line">
            <a:avLst/>
          </a:prstGeom>
          <a:ln cap="flat" w="47625">
            <a:solidFill>
              <a:srgbClr val="F1631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2763613" y="7154648"/>
            <a:ext cx="6233460" cy="2014950"/>
            <a:chOff x="0" y="0"/>
            <a:chExt cx="1786662" cy="57753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86662" cy="577534"/>
            </a:xfrm>
            <a:custGeom>
              <a:avLst/>
              <a:gdLst/>
              <a:ahLst/>
              <a:cxnLst/>
              <a:rect r="r" b="b" t="t" l="l"/>
              <a:pathLst>
                <a:path h="577534" w="1786662">
                  <a:moveTo>
                    <a:pt x="57132" y="0"/>
                  </a:moveTo>
                  <a:lnTo>
                    <a:pt x="1729531" y="0"/>
                  </a:lnTo>
                  <a:cubicBezTo>
                    <a:pt x="1761084" y="0"/>
                    <a:pt x="1786662" y="25579"/>
                    <a:pt x="1786662" y="57132"/>
                  </a:cubicBezTo>
                  <a:lnTo>
                    <a:pt x="1786662" y="520402"/>
                  </a:lnTo>
                  <a:cubicBezTo>
                    <a:pt x="1786662" y="551955"/>
                    <a:pt x="1761084" y="577534"/>
                    <a:pt x="1729531" y="577534"/>
                  </a:cubicBezTo>
                  <a:lnTo>
                    <a:pt x="57132" y="577534"/>
                  </a:lnTo>
                  <a:cubicBezTo>
                    <a:pt x="25579" y="577534"/>
                    <a:pt x="0" y="551955"/>
                    <a:pt x="0" y="520402"/>
                  </a:cubicBezTo>
                  <a:lnTo>
                    <a:pt x="0" y="57132"/>
                  </a:lnTo>
                  <a:cubicBezTo>
                    <a:pt x="0" y="25579"/>
                    <a:pt x="25579" y="0"/>
                    <a:pt x="57132" y="0"/>
                  </a:cubicBezTo>
                  <a:close/>
                </a:path>
              </a:pathLst>
            </a:custGeom>
            <a:ln w="38100" cap="rnd">
              <a:solidFill>
                <a:srgbClr val="0B4F6C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1786662" cy="606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5"/>
                </a:lnSpc>
              </a:pPr>
            </a:p>
          </p:txBody>
        </p:sp>
      </p:grpSp>
      <p:sp>
        <p:nvSpPr>
          <p:cNvPr name="AutoShape 32" id="32"/>
          <p:cNvSpPr/>
          <p:nvPr/>
        </p:nvSpPr>
        <p:spPr>
          <a:xfrm>
            <a:off x="1501399" y="7154648"/>
            <a:ext cx="1809515" cy="0"/>
          </a:xfrm>
          <a:prstGeom prst="line">
            <a:avLst/>
          </a:prstGeom>
          <a:ln cap="flat" w="47625">
            <a:solidFill>
              <a:srgbClr val="0C557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2860339" y="6496968"/>
            <a:ext cx="1232433" cy="1232433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DA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19"/>
                </a:lnSpc>
              </a:pPr>
            </a:p>
          </p:txBody>
        </p:sp>
      </p:grpSp>
      <p:sp>
        <p:nvSpPr>
          <p:cNvPr name="AutoShape 36" id="36"/>
          <p:cNvSpPr/>
          <p:nvPr/>
        </p:nvSpPr>
        <p:spPr>
          <a:xfrm flipH="true" flipV="true">
            <a:off x="937286" y="6675206"/>
            <a:ext cx="564113" cy="466151"/>
          </a:xfrm>
          <a:prstGeom prst="line">
            <a:avLst/>
          </a:prstGeom>
          <a:ln cap="flat" w="47625">
            <a:solidFill>
              <a:srgbClr val="0C557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7" id="37"/>
          <p:cNvGrpSpPr/>
          <p:nvPr/>
        </p:nvGrpSpPr>
        <p:grpSpPr>
          <a:xfrm rot="0">
            <a:off x="581779" y="2632923"/>
            <a:ext cx="331173" cy="331173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85725" cap="sq">
              <a:solidFill>
                <a:srgbClr val="0B4F6C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1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644921" y="4278963"/>
            <a:ext cx="332525" cy="332525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85725" cap="sq">
              <a:solidFill>
                <a:srgbClr val="F16315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1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62438" y="6568899"/>
            <a:ext cx="332525" cy="332525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85725" cap="sq">
              <a:solidFill>
                <a:srgbClr val="0C5575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1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2608051" y="1254451"/>
            <a:ext cx="1025473" cy="978860"/>
            <a:chOff x="0" y="0"/>
            <a:chExt cx="851505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51505" cy="812800"/>
            </a:xfrm>
            <a:custGeom>
              <a:avLst/>
              <a:gdLst/>
              <a:ahLst/>
              <a:cxnLst/>
              <a:rect r="r" b="b" t="t" l="l"/>
              <a:pathLst>
                <a:path h="812800" w="851505">
                  <a:moveTo>
                    <a:pt x="425753" y="0"/>
                  </a:moveTo>
                  <a:cubicBezTo>
                    <a:pt x="190616" y="0"/>
                    <a:pt x="0" y="181951"/>
                    <a:pt x="0" y="406400"/>
                  </a:cubicBezTo>
                  <a:cubicBezTo>
                    <a:pt x="0" y="630849"/>
                    <a:pt x="190616" y="812800"/>
                    <a:pt x="425753" y="812800"/>
                  </a:cubicBezTo>
                  <a:cubicBezTo>
                    <a:pt x="660889" y="812800"/>
                    <a:pt x="851505" y="630849"/>
                    <a:pt x="851505" y="406400"/>
                  </a:cubicBezTo>
                  <a:cubicBezTo>
                    <a:pt x="851505" y="181951"/>
                    <a:pt x="660889" y="0"/>
                    <a:pt x="425753" y="0"/>
                  </a:cubicBezTo>
                  <a:close/>
                </a:path>
              </a:pathLst>
            </a:custGeom>
            <a:solidFill>
              <a:srgbClr val="0B4F6C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79829" y="28575"/>
              <a:ext cx="691848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1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3267541" y="3976159"/>
            <a:ext cx="1023373" cy="1023373"/>
            <a:chOff x="0" y="0"/>
            <a:chExt cx="812800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6315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1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2913456" y="6557591"/>
            <a:ext cx="1108074" cy="1108074"/>
            <a:chOff x="0" y="0"/>
            <a:chExt cx="812800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4F6C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19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2975277" y="1348026"/>
            <a:ext cx="291021" cy="705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1"/>
              </a:lnSpc>
              <a:spcBef>
                <a:spcPct val="0"/>
              </a:spcBef>
            </a:pPr>
            <a:r>
              <a:rPr lang="en-US" b="true" sz="415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634015" y="4073057"/>
            <a:ext cx="307164" cy="743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6"/>
              </a:lnSpc>
              <a:spcBef>
                <a:spcPct val="0"/>
              </a:spcBef>
            </a:pPr>
            <a:r>
              <a:rPr lang="en-US" b="true" sz="434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3291146" y="6671160"/>
            <a:ext cx="352693" cy="798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b="true" sz="46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4032658" y="1535609"/>
            <a:ext cx="3558251" cy="39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66"/>
              </a:lnSpc>
              <a:spcBef>
                <a:spcPct val="0"/>
              </a:spcBef>
            </a:pPr>
            <a:r>
              <a:rPr lang="en-US" b="true" sz="2772">
                <a:solidFill>
                  <a:srgbClr val="FFFFFF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Social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4356710" y="4067203"/>
            <a:ext cx="4107253" cy="756045"/>
            <a:chOff x="0" y="0"/>
            <a:chExt cx="1472053" cy="27096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472053" cy="270969"/>
            </a:xfrm>
            <a:custGeom>
              <a:avLst/>
              <a:gdLst/>
              <a:ahLst/>
              <a:cxnLst/>
              <a:rect r="r" b="b" t="t" l="l"/>
              <a:pathLst>
                <a:path h="270969" w="1472053">
                  <a:moveTo>
                    <a:pt x="135484" y="0"/>
                  </a:moveTo>
                  <a:lnTo>
                    <a:pt x="1336568" y="0"/>
                  </a:lnTo>
                  <a:cubicBezTo>
                    <a:pt x="1411394" y="0"/>
                    <a:pt x="1472053" y="60658"/>
                    <a:pt x="1472053" y="135484"/>
                  </a:cubicBezTo>
                  <a:lnTo>
                    <a:pt x="1472053" y="135484"/>
                  </a:lnTo>
                  <a:cubicBezTo>
                    <a:pt x="1472053" y="210310"/>
                    <a:pt x="1411394" y="270969"/>
                    <a:pt x="1336568" y="270969"/>
                  </a:cubicBezTo>
                  <a:lnTo>
                    <a:pt x="135484" y="270969"/>
                  </a:lnTo>
                  <a:cubicBezTo>
                    <a:pt x="60658" y="270969"/>
                    <a:pt x="0" y="210310"/>
                    <a:pt x="0" y="135484"/>
                  </a:cubicBezTo>
                  <a:lnTo>
                    <a:pt x="0" y="135484"/>
                  </a:lnTo>
                  <a:cubicBezTo>
                    <a:pt x="0" y="60658"/>
                    <a:pt x="60658" y="0"/>
                    <a:pt x="135484" y="0"/>
                  </a:cubicBezTo>
                  <a:close/>
                </a:path>
              </a:pathLst>
            </a:custGeom>
            <a:solidFill>
              <a:srgbClr val="F16315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1472053" cy="318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19"/>
                </a:lnSpc>
              </a:pP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4740871" y="4271415"/>
            <a:ext cx="3723093" cy="366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14"/>
              </a:lnSpc>
              <a:spcBef>
                <a:spcPct val="0"/>
              </a:spcBef>
            </a:pPr>
            <a:r>
              <a:rPr lang="en-US" b="true" sz="2536">
                <a:solidFill>
                  <a:srgbClr val="FFFFFF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E</a:t>
            </a:r>
            <a:r>
              <a:rPr lang="en-US" b="true" sz="2536">
                <a:solidFill>
                  <a:srgbClr val="FFFFFF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conomi</a:t>
            </a:r>
            <a:r>
              <a:rPr lang="en-US" b="true" sz="2536" strike="noStrike" u="none">
                <a:solidFill>
                  <a:srgbClr val="FFFFFF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4111414" y="6735162"/>
            <a:ext cx="4107253" cy="756045"/>
            <a:chOff x="0" y="0"/>
            <a:chExt cx="1472053" cy="27096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472053" cy="270969"/>
            </a:xfrm>
            <a:custGeom>
              <a:avLst/>
              <a:gdLst/>
              <a:ahLst/>
              <a:cxnLst/>
              <a:rect r="r" b="b" t="t" l="l"/>
              <a:pathLst>
                <a:path h="270969" w="1472053">
                  <a:moveTo>
                    <a:pt x="135484" y="0"/>
                  </a:moveTo>
                  <a:lnTo>
                    <a:pt x="1336568" y="0"/>
                  </a:lnTo>
                  <a:cubicBezTo>
                    <a:pt x="1411394" y="0"/>
                    <a:pt x="1472053" y="60658"/>
                    <a:pt x="1472053" y="135484"/>
                  </a:cubicBezTo>
                  <a:lnTo>
                    <a:pt x="1472053" y="135484"/>
                  </a:lnTo>
                  <a:cubicBezTo>
                    <a:pt x="1472053" y="210310"/>
                    <a:pt x="1411394" y="270969"/>
                    <a:pt x="1336568" y="270969"/>
                  </a:cubicBezTo>
                  <a:lnTo>
                    <a:pt x="135484" y="270969"/>
                  </a:lnTo>
                  <a:cubicBezTo>
                    <a:pt x="60658" y="270969"/>
                    <a:pt x="0" y="210310"/>
                    <a:pt x="0" y="135484"/>
                  </a:cubicBezTo>
                  <a:lnTo>
                    <a:pt x="0" y="135484"/>
                  </a:lnTo>
                  <a:cubicBezTo>
                    <a:pt x="0" y="60658"/>
                    <a:pt x="60658" y="0"/>
                    <a:pt x="135484" y="0"/>
                  </a:cubicBezTo>
                  <a:close/>
                </a:path>
              </a:pathLst>
            </a:custGeom>
            <a:solidFill>
              <a:srgbClr val="0B4F6C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1472053" cy="318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19"/>
                </a:lnSpc>
              </a:pP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4252813" y="6967546"/>
            <a:ext cx="3965855" cy="366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14"/>
              </a:lnSpc>
              <a:spcBef>
                <a:spcPct val="0"/>
              </a:spcBef>
            </a:pPr>
            <a:r>
              <a:rPr lang="en-US" b="true" sz="2536" strike="noStrike" u="none">
                <a:solidFill>
                  <a:srgbClr val="FFFFFF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</a:t>
            </a:r>
            <a:r>
              <a:rPr lang="en-US" b="true" sz="2536" strike="noStrike" u="none">
                <a:solidFill>
                  <a:srgbClr val="FFFFFF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Envi</a:t>
            </a:r>
            <a:r>
              <a:rPr lang="en-US" b="true" sz="2536" strike="noStrike" u="none">
                <a:solidFill>
                  <a:srgbClr val="FFFFFF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r</a:t>
            </a:r>
            <a:r>
              <a:rPr lang="en-US" b="true" sz="2536" strike="noStrike" u="none">
                <a:solidFill>
                  <a:srgbClr val="FFFFFF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onm</a:t>
            </a:r>
            <a:r>
              <a:rPr lang="en-US" b="true" sz="2536" strike="noStrike" u="none">
                <a:solidFill>
                  <a:srgbClr val="FFFFFF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enta</a:t>
            </a:r>
            <a:r>
              <a:rPr lang="en-US" b="true" sz="2536" strike="noStrike" u="none">
                <a:solidFill>
                  <a:srgbClr val="FFFFFF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l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3218484" y="2111016"/>
            <a:ext cx="5648438" cy="1706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294" indent="-172647" lvl="1">
              <a:lnSpc>
                <a:spcPts val="191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Early detection of preventable blindness for populations with least specialist access</a:t>
            </a:r>
          </a:p>
          <a:p>
            <a:pPr algn="l" marL="345294" indent="-172647" lvl="1">
              <a:lnSpc>
                <a:spcPts val="191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Native-language voice read-out of diagnosis + instructions removes the literacy/language barrier for ASHA-led rural deliver.y</a:t>
            </a:r>
          </a:p>
          <a:p>
            <a:pPr algn="l" marL="345294" indent="-172647" lvl="1">
              <a:lnSpc>
                <a:spcPts val="191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Turns ASHA workers &amp; rural PHCs into real screening points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3495562" y="4927446"/>
            <a:ext cx="5648438" cy="1706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294" indent="-172647" lvl="1">
              <a:lnSpc>
                <a:spcPts val="191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Frees scarce ophthalmologist time for genuinely referable cases only, via automatic triage</a:t>
            </a:r>
          </a:p>
          <a:p>
            <a:pPr algn="l" marL="345294" indent="-172647" lvl="1">
              <a:lnSpc>
                <a:spcPts val="191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Avoids costlier late-stage treatment and lost productivity from preventable blindness</a:t>
            </a:r>
          </a:p>
          <a:p>
            <a:pPr algn="l" marL="345294" indent="-172647" lvl="1">
              <a:lnSpc>
                <a:spcPts val="191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Simulink capacity model lets a district right-size staffing/bandwidth investment, not guess</a:t>
            </a:r>
          </a:p>
          <a:p>
            <a:pPr algn="l">
              <a:lnSpc>
                <a:spcPts val="1919"/>
              </a:lnSpc>
            </a:pPr>
          </a:p>
        </p:txBody>
      </p:sp>
      <p:sp>
        <p:nvSpPr>
          <p:cNvPr name="TextBox 69" id="69"/>
          <p:cNvSpPr txBox="true"/>
          <p:nvPr/>
        </p:nvSpPr>
        <p:spPr>
          <a:xfrm rot="0">
            <a:off x="3495562" y="7552141"/>
            <a:ext cx="5648438" cy="1706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294" indent="-172647" lvl="1">
              <a:lnSpc>
                <a:spcPts val="191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Fewer screening-only trips to distant clinics — lower travel cost, time, and carbon footprint</a:t>
            </a:r>
          </a:p>
          <a:p>
            <a:pPr algn="l" marL="345294" indent="-172647" lvl="1">
              <a:lnSpc>
                <a:spcPts val="191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Reduces load on already overstretched public hospital infrastructure</a:t>
            </a:r>
          </a:p>
          <a:p>
            <a:pPr algn="l" marL="345294" indent="-172647" lvl="1">
              <a:lnSpc>
                <a:spcPts val="191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Deployable on existing smartphone + low-cost fundus-lens hardware, no new infrastructure</a:t>
            </a:r>
          </a:p>
          <a:p>
            <a:pPr algn="l">
              <a:lnSpc>
                <a:spcPts val="1919"/>
              </a:lnSpc>
            </a:pPr>
          </a:p>
        </p:txBody>
      </p:sp>
      <p:grpSp>
        <p:nvGrpSpPr>
          <p:cNvPr name="Group 70" id="70"/>
          <p:cNvGrpSpPr/>
          <p:nvPr/>
        </p:nvGrpSpPr>
        <p:grpSpPr>
          <a:xfrm rot="0">
            <a:off x="10644899" y="1507034"/>
            <a:ext cx="1866305" cy="1866305"/>
            <a:chOff x="0" y="0"/>
            <a:chExt cx="812800" cy="8128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FEC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9"/>
                </a:lnSpc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810875" y="5513889"/>
            <a:ext cx="1820329" cy="1820329"/>
            <a:chOff x="0" y="0"/>
            <a:chExt cx="812800" cy="8128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FEC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9"/>
                </a:lnSpc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375300" y="3373338"/>
            <a:ext cx="1866305" cy="1866305"/>
            <a:chOff x="0" y="0"/>
            <a:chExt cx="812800" cy="8128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FEC"/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9"/>
                </a:lnSpc>
              </a:pPr>
            </a:p>
          </p:txBody>
        </p:sp>
      </p:grpSp>
      <p:sp>
        <p:nvSpPr>
          <p:cNvPr name="TextBox 79" id="79"/>
          <p:cNvSpPr txBox="true"/>
          <p:nvPr/>
        </p:nvSpPr>
        <p:spPr>
          <a:xfrm rot="0">
            <a:off x="10959398" y="2203909"/>
            <a:ext cx="1237306" cy="52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7"/>
              </a:lnSpc>
              <a:spcBef>
                <a:spcPct val="0"/>
              </a:spcBef>
            </a:pPr>
            <a:r>
              <a:rPr lang="en-US" b="true" sz="3514">
                <a:solidFill>
                  <a:srgbClr val="F16315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101M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9716163" y="4042856"/>
            <a:ext cx="1184579" cy="52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7"/>
              </a:lnSpc>
              <a:spcBef>
                <a:spcPct val="0"/>
              </a:spcBef>
            </a:pPr>
            <a:r>
              <a:rPr lang="en-US" b="true" sz="3514">
                <a:solidFill>
                  <a:srgbClr val="F16315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12.5%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0912373" y="6166913"/>
            <a:ext cx="1617332" cy="514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3"/>
              </a:lnSpc>
              <a:spcBef>
                <a:spcPct val="0"/>
              </a:spcBef>
            </a:pPr>
            <a:r>
              <a:rPr lang="en-US" b="true" sz="3428">
                <a:solidFill>
                  <a:srgbClr val="F16315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~</a:t>
            </a:r>
            <a:r>
              <a:rPr lang="en-US" b="true" sz="3428">
                <a:solidFill>
                  <a:srgbClr val="F16315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12.6M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2800882" y="2034551"/>
            <a:ext cx="4303871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0"/>
              </a:lnSpc>
              <a:spcBef>
                <a:spcPct val="0"/>
              </a:spcBef>
            </a:pPr>
            <a:r>
              <a:rPr lang="en-US" b="true" sz="1850">
                <a:solidFill>
                  <a:srgbClr val="0B4F6C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people living with diabetes in India.</a:t>
            </a:r>
          </a:p>
          <a:p>
            <a:pPr algn="l">
              <a:lnSpc>
                <a:spcPts val="2220"/>
              </a:lnSpc>
              <a:spcBef>
                <a:spcPct val="0"/>
              </a:spcBef>
            </a:pPr>
            <a:r>
              <a:rPr lang="en-US" b="true" sz="1850" i="true">
                <a:solidFill>
                  <a:srgbClr val="0B4F6C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ICMR-INDIAB, 2023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1531284" y="3932655"/>
            <a:ext cx="5018247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0"/>
              </a:lnSpc>
            </a:pPr>
            <a:r>
              <a:rPr lang="en-US" sz="1850" b="true">
                <a:solidFill>
                  <a:srgbClr val="0B4F6C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of diabetics develop diabetic retinopathy.</a:t>
            </a:r>
          </a:p>
          <a:p>
            <a:pPr algn="l">
              <a:lnSpc>
                <a:spcPts val="2220"/>
              </a:lnSpc>
            </a:pPr>
            <a:r>
              <a:rPr lang="en-US" sz="1850" i="true" b="true">
                <a:solidFill>
                  <a:srgbClr val="0B4F6C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Lancet Glob. Health, 2022</a:t>
            </a:r>
          </a:p>
          <a:p>
            <a:pPr algn="l">
              <a:lnSpc>
                <a:spcPts val="2220"/>
              </a:lnSpc>
              <a:spcBef>
                <a:spcPct val="0"/>
              </a:spcBef>
            </a:pPr>
          </a:p>
        </p:txBody>
      </p:sp>
      <p:sp>
        <p:nvSpPr>
          <p:cNvPr name="TextBox 84" id="84"/>
          <p:cNvSpPr txBox="true"/>
          <p:nvPr/>
        </p:nvSpPr>
        <p:spPr>
          <a:xfrm rot="0">
            <a:off x="11578051" y="8009318"/>
            <a:ext cx="5018247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0"/>
              </a:lnSpc>
            </a:pPr>
            <a:r>
              <a:rPr lang="en-US" sz="1850" b="true">
                <a:solidFill>
                  <a:srgbClr val="0B4F6C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have vision-threatening DR. (~4M people)</a:t>
            </a:r>
          </a:p>
          <a:p>
            <a:pPr algn="l">
              <a:lnSpc>
                <a:spcPts val="2220"/>
              </a:lnSpc>
            </a:pPr>
            <a:r>
              <a:rPr lang="en-US" sz="1850" i="true" b="true">
                <a:solidFill>
                  <a:srgbClr val="0B4F6C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SMART-India study, 2022</a:t>
            </a:r>
          </a:p>
          <a:p>
            <a:pPr algn="l">
              <a:lnSpc>
                <a:spcPts val="2220"/>
              </a:lnSpc>
              <a:spcBef>
                <a:spcPct val="0"/>
              </a:spcBef>
            </a:pPr>
          </a:p>
        </p:txBody>
      </p:sp>
      <p:sp>
        <p:nvSpPr>
          <p:cNvPr name="TextBox 85" id="85"/>
          <p:cNvSpPr txBox="true"/>
          <p:nvPr/>
        </p:nvSpPr>
        <p:spPr>
          <a:xfrm rot="0">
            <a:off x="12968507" y="6022070"/>
            <a:ext cx="4882039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0"/>
              </a:lnSpc>
            </a:pPr>
            <a:r>
              <a:rPr lang="en-US" sz="1850" b="true">
                <a:solidFill>
                  <a:srgbClr val="0B4F6C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Indians estimated to have DR nationally.</a:t>
            </a:r>
          </a:p>
          <a:p>
            <a:pPr algn="l">
              <a:lnSpc>
                <a:spcPts val="2220"/>
              </a:lnSpc>
            </a:pPr>
            <a:r>
              <a:rPr lang="en-US" sz="1850" i="true" b="true">
                <a:solidFill>
                  <a:srgbClr val="0B4F6C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derived: 101M × 12.5%</a:t>
            </a:r>
          </a:p>
          <a:p>
            <a:pPr algn="l">
              <a:lnSpc>
                <a:spcPts val="2220"/>
              </a:lnSpc>
              <a:spcBef>
                <a:spcPct val="0"/>
              </a:spcBef>
            </a:pPr>
          </a:p>
        </p:txBody>
      </p:sp>
      <p:grpSp>
        <p:nvGrpSpPr>
          <p:cNvPr name="Group 86" id="86"/>
          <p:cNvGrpSpPr/>
          <p:nvPr/>
        </p:nvGrpSpPr>
        <p:grpSpPr>
          <a:xfrm rot="0">
            <a:off x="9610725" y="7469483"/>
            <a:ext cx="1754680" cy="1754680"/>
            <a:chOff x="0" y="0"/>
            <a:chExt cx="812800" cy="8128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FEC"/>
            </a:solidFill>
          </p:spPr>
        </p:sp>
        <p:sp>
          <p:nvSpPr>
            <p:cNvPr name="TextBox 88" id="88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9"/>
                </a:lnSpc>
              </a:pPr>
            </a:p>
          </p:txBody>
        </p:sp>
      </p:grpSp>
      <p:sp>
        <p:nvSpPr>
          <p:cNvPr name="TextBox 89" id="89"/>
          <p:cNvSpPr txBox="true"/>
          <p:nvPr/>
        </p:nvSpPr>
        <p:spPr>
          <a:xfrm rot="0">
            <a:off x="9976281" y="8102840"/>
            <a:ext cx="995825" cy="49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8"/>
              </a:lnSpc>
              <a:spcBef>
                <a:spcPct val="0"/>
              </a:spcBef>
            </a:pPr>
            <a:r>
              <a:rPr lang="en-US" b="true" sz="3306">
                <a:solidFill>
                  <a:srgbClr val="F16315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4.</a:t>
            </a:r>
            <a:r>
              <a:rPr lang="en-US" b="true" sz="3306">
                <a:solidFill>
                  <a:srgbClr val="F16315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0%</a:t>
            </a:r>
          </a:p>
        </p:txBody>
      </p:sp>
      <p:grpSp>
        <p:nvGrpSpPr>
          <p:cNvPr name="Group 90" id="90"/>
          <p:cNvGrpSpPr/>
          <p:nvPr/>
        </p:nvGrpSpPr>
        <p:grpSpPr>
          <a:xfrm rot="0">
            <a:off x="0" y="9739312"/>
            <a:ext cx="18288000" cy="547688"/>
            <a:chOff x="0" y="0"/>
            <a:chExt cx="24384000" cy="73025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4384000" cy="730250"/>
            </a:xfrm>
            <a:custGeom>
              <a:avLst/>
              <a:gdLst/>
              <a:ahLst/>
              <a:cxnLst/>
              <a:rect r="r" b="b" t="t" l="l"/>
              <a:pathLst>
                <a:path h="7302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3106400" y="9739312"/>
            <a:ext cx="4267200" cy="547688"/>
            <a:chOff x="0" y="0"/>
            <a:chExt cx="5689600" cy="73025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6972300" y="9739312"/>
            <a:ext cx="4806001" cy="547688"/>
            <a:chOff x="0" y="0"/>
            <a:chExt cx="6408001" cy="73025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Veyronix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4762045" y="9449"/>
            <a:ext cx="3313681" cy="1684306"/>
            <a:chOff x="0" y="0"/>
            <a:chExt cx="4418241" cy="224574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736" t="0" r="-1736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1945600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60"/>
                </a:lnSpc>
              </a:pPr>
              <a:r>
                <a:rPr lang="en-US" sz="3800" b="true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RESEARCH  AND REFERENCES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1500" y="1485900"/>
            <a:ext cx="1709928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b="true" sz="2799">
                <a:solidFill>
                  <a:srgbClr val="0B4F6C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Datasets, Methods &amp; Sources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86690" y="186690"/>
            <a:ext cx="1889760" cy="861060"/>
            <a:chOff x="0" y="0"/>
            <a:chExt cx="2519680" cy="1148080"/>
          </a:xfrm>
        </p:grpSpPr>
        <p:sp>
          <p:nvSpPr>
            <p:cNvPr name="Freeform 7" id="7" descr="Your startup LOGO"/>
            <p:cNvSpPr/>
            <p:nvPr/>
          </p:nvSpPr>
          <p:spPr>
            <a:xfrm flipH="false" flipV="false" rot="0">
              <a:off x="0" y="0"/>
              <a:ext cx="2519680" cy="1148080"/>
            </a:xfrm>
            <a:custGeom>
              <a:avLst/>
              <a:gdLst/>
              <a:ahLst/>
              <a:cxnLst/>
              <a:rect r="r" b="b" t="t" l="l"/>
              <a:pathLst>
                <a:path h="1148080" w="2519680">
                  <a:moveTo>
                    <a:pt x="0" y="574040"/>
                  </a:moveTo>
                  <a:cubicBezTo>
                    <a:pt x="0" y="257048"/>
                    <a:pt x="564007" y="0"/>
                    <a:pt x="1259840" y="0"/>
                  </a:cubicBezTo>
                  <a:cubicBezTo>
                    <a:pt x="1955673" y="0"/>
                    <a:pt x="2519680" y="257048"/>
                    <a:pt x="2519680" y="574040"/>
                  </a:cubicBezTo>
                  <a:cubicBezTo>
                    <a:pt x="2519680" y="891032"/>
                    <a:pt x="1955673" y="1148080"/>
                    <a:pt x="1259840" y="1148080"/>
                  </a:cubicBezTo>
                  <a:cubicBezTo>
                    <a:pt x="564007" y="1148080"/>
                    <a:pt x="0" y="891032"/>
                    <a:pt x="0" y="5740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519680" cy="1148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8384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Veyronix</a:t>
              </a:r>
            </a:p>
          </p:txBody>
        </p:sp>
      </p:grp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481965" y="2125028"/>
          <a:ext cx="17278350" cy="7132320"/>
        </p:xfrm>
        <a:graphic>
          <a:graphicData uri="http://schemas.openxmlformats.org/drawingml/2006/table">
            <a:tbl>
              <a:tblPr/>
              <a:tblGrid>
                <a:gridCol w="2056946"/>
                <a:gridCol w="6307969"/>
                <a:gridCol w="8913435"/>
              </a:tblGrid>
              <a:tr h="7132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9"/>
                        </a:lnSpc>
                        <a:defRPr/>
                      </a:pPr>
                      <a:r>
                        <a:rPr lang="en-US" sz="2149" b="true">
                          <a:solidFill>
                            <a:srgbClr val="FFFFFF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Category</a:t>
                      </a:r>
                      <a:endParaRPr lang="en-US" sz="1100"/>
                    </a:p>
                  </a:txBody>
                  <a:tcPr marL="75184" marR="75184" marT="75184" marB="75184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631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9"/>
                        </a:lnSpc>
                        <a:defRPr/>
                      </a:pPr>
                      <a:r>
                        <a:rPr lang="en-US" sz="2149" b="true">
                          <a:solidFill>
                            <a:srgbClr val="FFFFFF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Key Detail</a:t>
                      </a:r>
                      <a:endParaRPr lang="en-US" sz="1100"/>
                    </a:p>
                  </a:txBody>
                  <a:tcPr marL="75184" marR="75184" marT="75184" marB="75184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9"/>
                        </a:lnSpc>
                        <a:defRPr/>
                      </a:pPr>
                      <a:r>
                        <a:rPr lang="en-US" sz="2149" b="true">
                          <a:solidFill>
                            <a:srgbClr val="FFFFFF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Source</a:t>
                      </a:r>
                      <a:endParaRPr lang="en-US" sz="1100"/>
                    </a:p>
                  </a:txBody>
                  <a:tcPr marL="75184" marR="75184" marT="75184" marB="75184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71323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sz="1425" b="true">
                          <a:solidFill>
                            <a:srgbClr val="08384D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Datasets</a:t>
                      </a:r>
                      <a:endParaRPr lang="en-US" sz="1100"/>
                    </a:p>
                  </a:txBody>
                  <a:tcPr marL="75184" marR="75184" marT="75184" marB="75184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sz="1425" b="true">
                          <a:solidFill>
                            <a:srgbClr val="13293D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APTOS 2019 Blindness Detection</a:t>
                      </a:r>
                      <a:endParaRPr lang="en-US" sz="1100"/>
                    </a:p>
                  </a:txBody>
                  <a:tcPr marL="75184" marR="75184" marT="75184" marB="75184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b="true" sz="1425" u="sng">
                          <a:solidFill>
                            <a:srgbClr val="13293D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  <a:hlinkClick r:id="rId4" tooltip="https://www.kaggle.com/competitions/aptos2019-blindness-detection/data"/>
                        </a:rPr>
                        <a:t>Kaggle — primary training set (~3,662 graded fundus images)</a:t>
                      </a:r>
                      <a:endParaRPr lang="en-US" sz="1100"/>
                    </a:p>
                  </a:txBody>
                  <a:tcPr marL="75184" marR="75184" marT="75184" marB="75184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</a:tr>
              <a:tr h="71323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sz="1425" b="true">
                          <a:solidFill>
                            <a:srgbClr val="08384D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Datasets</a:t>
                      </a:r>
                      <a:endParaRPr lang="en-US" sz="1100"/>
                    </a:p>
                  </a:txBody>
                  <a:tcPr marL="75184" marR="75184" marT="75184" marB="75184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sz="1425" b="true">
                          <a:solidFill>
                            <a:srgbClr val="13293D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IDRiD (Indian Diabetic Retinopathy Image Dataset)</a:t>
                      </a:r>
                      <a:endParaRPr lang="en-US" sz="1100"/>
                    </a:p>
                  </a:txBody>
                  <a:tcPr marL="75184" marR="75184" marT="75184" marB="75184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b="true" sz="1425" u="sng">
                          <a:solidFill>
                            <a:srgbClr val="13293D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  <a:hlinkClick r:id="rId5" tooltip="https://ieee-dataport.org/open-access/indian-diabetic-retinopathy-image-dataset-idrid"/>
                        </a:rPr>
                        <a:t>idrid.grand-challenge.org — segmentation masks + disease grading, Indian population</a:t>
                      </a:r>
                      <a:endParaRPr lang="en-US" sz="1100"/>
                    </a:p>
                  </a:txBody>
                  <a:tcPr marL="75184" marR="75184" marT="75184" marB="75184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sz="1425" b="true">
                          <a:solidFill>
                            <a:srgbClr val="08384D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Datasets</a:t>
                      </a:r>
                      <a:endParaRPr lang="en-US" sz="1100"/>
                    </a:p>
                  </a:txBody>
                  <a:tcPr marL="75184" marR="75184" marT="75184" marB="75184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sz="1425" b="true">
                          <a:solidFill>
                            <a:srgbClr val="13293D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Messidor-2 images + adjudicated grades</a:t>
                      </a:r>
                      <a:endParaRPr lang="en-US" sz="1100"/>
                    </a:p>
                  </a:txBody>
                  <a:tcPr marL="75184" marR="75184" marT="75184" marB="75184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b="true" sz="1425" u="sng">
                          <a:solidFill>
                            <a:srgbClr val="13293D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  <a:hlinkClick r:id="rId6" tooltip="https://www.adcis.net/en/third-party/messidor2/"/>
                        </a:rPr>
                        <a:t>ADCIS (images) + Kaggle google-brain/messidor2-dr-grades (Krause et al.) — external validation benchmark</a:t>
                      </a:r>
                      <a:endParaRPr lang="en-US" sz="1100"/>
                    </a:p>
                  </a:txBody>
                  <a:tcPr marL="75184" marR="75184" marT="75184" marB="75184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</a:tr>
              <a:tr h="71323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sz="1425" b="true">
                          <a:solidFill>
                            <a:srgbClr val="08384D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Methods</a:t>
                      </a:r>
                      <a:endParaRPr lang="en-US" sz="1100"/>
                    </a:p>
                  </a:txBody>
                  <a:tcPr marL="75184" marR="75184" marT="75184" marB="75184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sz="1425" b="true">
                          <a:solidFill>
                            <a:srgbClr val="13293D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ICDR Severity Scale</a:t>
                      </a:r>
                      <a:endParaRPr lang="en-US" sz="1100"/>
                    </a:p>
                  </a:txBody>
                  <a:tcPr marL="75184" marR="75184" marT="75184" marB="75184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b="true" sz="1425" u="sng">
                          <a:solidFill>
                            <a:srgbClr val="13293D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  <a:hlinkClick r:id="rId7" tooltip="https://pubmed.ncbi.nlm.nih.gov/13129861/"/>
                        </a:rPr>
                        <a:t>Wilkinson et al., “Proposed International Clinical DR and DME Disease Severity Scales,” Ophthalmology, 2003</a:t>
                      </a:r>
                      <a:endParaRPr lang="en-US" sz="1100"/>
                    </a:p>
                  </a:txBody>
                  <a:tcPr marL="75184" marR="75184" marT="75184" marB="75184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sz="1425" b="true">
                          <a:solidFill>
                            <a:srgbClr val="08384D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Methods</a:t>
                      </a:r>
                      <a:endParaRPr lang="en-US" sz="1100"/>
                    </a:p>
                  </a:txBody>
                  <a:tcPr marL="75184" marR="75184" marT="75184" marB="75184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sz="1425" b="true">
                          <a:solidFill>
                            <a:srgbClr val="13293D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Confidence calibration</a:t>
                      </a:r>
                      <a:endParaRPr lang="en-US" sz="1100"/>
                    </a:p>
                  </a:txBody>
                  <a:tcPr marL="75184" marR="75184" marT="75184" marB="75184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b="true" sz="1425" u="sng">
                          <a:solidFill>
                            <a:srgbClr val="13293D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  <a:hlinkClick r:id="rId8" tooltip="https://arxiv.org/abs/1706.04599"/>
                        </a:rPr>
                        <a:t>Guo et al., “On Calibration of Modern Neural Networks,” ICML 2017</a:t>
                      </a:r>
                      <a:endParaRPr lang="en-US" sz="1100"/>
                    </a:p>
                  </a:txBody>
                  <a:tcPr marL="75184" marR="75184" marT="75184" marB="75184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</a:tr>
              <a:tr h="71323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sz="1425" b="true">
                          <a:solidFill>
                            <a:srgbClr val="08384D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Methods</a:t>
                      </a:r>
                      <a:endParaRPr lang="en-US" sz="1100"/>
                    </a:p>
                  </a:txBody>
                  <a:tcPr marL="75184" marR="75184" marT="75184" marB="75184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sz="1425" b="true">
                          <a:solidFill>
                            <a:srgbClr val="13293D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Cross-camera color normalisation</a:t>
                      </a:r>
                      <a:endParaRPr lang="en-US" sz="1100"/>
                    </a:p>
                  </a:txBody>
                  <a:tcPr marL="75184" marR="75184" marT="75184" marB="75184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sz="1425" b="true">
                          <a:solidFill>
                            <a:srgbClr val="13293D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Graham, B., Kaggle Diabetic Retinopathy Detection — winning solution, 2015</a:t>
                      </a:r>
                      <a:endParaRPr lang="en-US" sz="1100"/>
                    </a:p>
                  </a:txBody>
                  <a:tcPr marL="75184" marR="75184" marT="75184" marB="75184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sz="1425" b="true">
                          <a:solidFill>
                            <a:srgbClr val="08384D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Public health</a:t>
                      </a:r>
                      <a:endParaRPr lang="en-US" sz="1100"/>
                    </a:p>
                  </a:txBody>
                  <a:tcPr marL="75184" marR="75184" marT="75184" marB="75184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sz="1425" b="true">
                          <a:solidFill>
                            <a:srgbClr val="13293D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101M Indians living with diabetes</a:t>
                      </a:r>
                      <a:endParaRPr lang="en-US" sz="1100"/>
                    </a:p>
                  </a:txBody>
                  <a:tcPr marL="75184" marR="75184" marT="75184" marB="75184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b="true" sz="1425" u="sng">
                          <a:solidFill>
                            <a:srgbClr val="13293D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  <a:hlinkClick r:id="rId9" tooltip="https://www.thelancet.com/journals/landia/article/PIIS2213-8587(23)00119-5/fulltext"/>
                        </a:rPr>
                        <a:t>Anjana et al., ICMR-INDIAB, Lancet Diabetes &amp; Endocrinology, 2023</a:t>
                      </a:r>
                      <a:endParaRPr lang="en-US" sz="1100"/>
                    </a:p>
                  </a:txBody>
                  <a:tcPr marL="75184" marR="75184" marT="75184" marB="75184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</a:tr>
              <a:tr h="71323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sz="1425" b="true">
                          <a:solidFill>
                            <a:srgbClr val="08384D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Public health</a:t>
                      </a:r>
                      <a:endParaRPr lang="en-US" sz="1100"/>
                    </a:p>
                  </a:txBody>
                  <a:tcPr marL="75184" marR="75184" marT="75184" marB="75184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sz="1425" b="true">
                          <a:solidFill>
                            <a:srgbClr val="13293D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12.5% DR / 4.0% vision-threatening DR prevalence</a:t>
                      </a:r>
                      <a:endParaRPr lang="en-US" sz="1100"/>
                    </a:p>
                  </a:txBody>
                  <a:tcPr marL="75184" marR="75184" marT="75184" marB="75184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b="true" sz="1425" u="sng">
                          <a:solidFill>
                            <a:srgbClr val="13293D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  <a:hlinkClick r:id="rId10" tooltip="https://crystalcleareye.in/understanding-diabetic-eye-disease-by-dr-jignesh-gala/"/>
                        </a:rPr>
                        <a:t>SMART-India study, Lancet Global Health, 2022</a:t>
                      </a:r>
                      <a:endParaRPr lang="en-US" sz="1100"/>
                    </a:p>
                  </a:txBody>
                  <a:tcPr marL="75184" marR="75184" marT="75184" marB="75184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09"/>
                        </a:lnSpc>
                        <a:defRPr/>
                      </a:pPr>
                      <a:r>
                        <a:rPr lang="en-US" sz="1425" b="true">
                          <a:solidFill>
                            <a:srgbClr val="08384D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Feasibility</a:t>
                      </a:r>
                      <a:endParaRPr lang="en-US" sz="1100"/>
                    </a:p>
                  </a:txBody>
                  <a:tcPr marL="75184" marR="75184" marT="75184" marB="75184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170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425" strike="noStrike" u="none">
                          <a:solidFill>
                            <a:srgbClr val="13293D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Low-cost smartphone fundus imaging validation​</a:t>
                      </a:r>
                      <a:endParaRPr lang="en-US" sz="1100"/>
                    </a:p>
                  </a:txBody>
                  <a:tcPr marL="75184" marR="75184" marT="75184" marB="75184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170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425" strike="noStrike" u="sng">
                          <a:solidFill>
                            <a:srgbClr val="13293D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  <a:hlinkClick r:id="rId11" tooltip="https://pmc.ncbi.nlm.nih.gov/articles/PMC11240943/"/>
                        </a:rPr>
                        <a:t>Wintergerst et al., smartphone-based fundus photography review, Ophthalmology, 2020​</a:t>
                      </a:r>
                      <a:endParaRPr lang="en-US" sz="1100"/>
                    </a:p>
                  </a:txBody>
                  <a:tcPr marL="75184" marR="75184" marT="75184" marB="75184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</a:tr>
            </a:tbl>
          </a:graphicData>
        </a:graphic>
      </p:graphicFrame>
      <p:grpSp>
        <p:nvGrpSpPr>
          <p:cNvPr name="Group 10" id="10"/>
          <p:cNvGrpSpPr/>
          <p:nvPr/>
        </p:nvGrpSpPr>
        <p:grpSpPr>
          <a:xfrm rot="0">
            <a:off x="0" y="9739312"/>
            <a:ext cx="18288000" cy="547688"/>
            <a:chOff x="0" y="0"/>
            <a:chExt cx="243840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4000" cy="730250"/>
            </a:xfrm>
            <a:custGeom>
              <a:avLst/>
              <a:gdLst/>
              <a:ahLst/>
              <a:cxnLst/>
              <a:rect r="r" b="b" t="t" l="l"/>
              <a:pathLst>
                <a:path h="7302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106400" y="9739312"/>
            <a:ext cx="4267200" cy="547688"/>
            <a:chOff x="0" y="0"/>
            <a:chExt cx="56896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972300" y="9739312"/>
            <a:ext cx="4806001" cy="547688"/>
            <a:chOff x="0" y="0"/>
            <a:chExt cx="6408001" cy="730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Veyronix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762045" y="9449"/>
            <a:ext cx="3313681" cy="1684306"/>
            <a:chOff x="0" y="0"/>
            <a:chExt cx="4418241" cy="224574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1736" t="0" r="-1736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DAHViF5u4_Y</dc:identifier>
  <dcterms:modified xsi:type="dcterms:W3CDTF">2011-08-01T06:04:30Z</dcterms:modified>
  <cp:revision>1</cp:revision>
  <dc:title>Veyronix_SIH26038_DRISHTI_IdeaPPT.pptx</dc:title>
</cp:coreProperties>
</file>