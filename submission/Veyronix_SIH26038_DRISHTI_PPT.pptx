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Garamond Bold" charset="1" panose="02020804030307010803"/>
      <p:regular r:id="rId12"/>
    </p:embeddedFont>
    <p:embeddedFont>
      <p:font typeface="Libre Baskerville Bold" charset="1" panose="02000000000000000000"/>
      <p:regular r:id="rId13"/>
    </p:embeddedFont>
    <p:embeddedFont>
      <p:font typeface="Libre Baskerville" charset="1" panose="02000000000000000000"/>
      <p:regular r:id="rId14"/>
    </p:embeddedFont>
    <p:embeddedFont>
      <p:font typeface="Arimo Bold" charset="1" panose="020B0704020202020204"/>
      <p:regular r:id="rId18"/>
    </p:embeddedFont>
    <p:embeddedFont>
      <p:font typeface="Arimo" charset="1" panose="020B0604020202020204"/>
      <p:regular r:id="rId19"/>
    </p:embeddedFont>
    <p:embeddedFont>
      <p:font typeface="Montserrat Bold" charset="1" panose="00000800000000000000"/>
      <p:regular r:id="rId20"/>
    </p:embeddedFont>
    <p:embeddedFont>
      <p:font typeface="Anton" charset="1" panose="00000500000000000000"/>
      <p:regular r:id="rId21"/>
    </p:embeddedFont>
    <p:embeddedFont>
      <p:font typeface="Montserrat Semi-Bold" charset="1" panose="00000700000000000000"/>
      <p:regular r:id="rId22"/>
    </p:embeddedFont>
    <p:embeddedFont>
      <p:font typeface="Montserrat Italics" charset="1" panose="00000500000000000000"/>
      <p:regular r:id="rId24"/>
    </p:embeddedFont>
    <p:embeddedFont>
      <p:font typeface="Canva Sans Bold" charset="1" panose="020B0803030501040103"/>
      <p:regular r:id="rId27"/>
    </p:embeddedFont>
    <p:embeddedFont>
      <p:font typeface="Montserrat Medium" charset="1" panose="00000600000000000000"/>
      <p:regular r:id="rId28"/>
    </p:embeddedFont>
    <p:embeddedFont>
      <p:font typeface="Montserrat Semi-Bold Italics" charset="1" panose="00000700000000000000"/>
      <p:regular r:id="rId2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15" Target="notesMasters/notesMaster1.xml" Type="http://schemas.openxmlformats.org/officeDocument/2006/relationships/notesMaster"/><Relationship Id="rId16" Target="theme/theme2.xml" Type="http://schemas.openxmlformats.org/officeDocument/2006/relationships/theme"/><Relationship Id="rId17" Target="notesSlides/notesSlide1.xml" Type="http://schemas.openxmlformats.org/officeDocument/2006/relationships/notesSlide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notesSlides/notesSlide2.xml" Type="http://schemas.openxmlformats.org/officeDocument/2006/relationships/notesSlide"/><Relationship Id="rId24" Target="fonts/font24.fntdata" Type="http://schemas.openxmlformats.org/officeDocument/2006/relationships/font"/><Relationship Id="rId25" Target="notesSlides/notesSlide3.xml" Type="http://schemas.openxmlformats.org/officeDocument/2006/relationships/notesSlide"/><Relationship Id="rId26" Target="notesSlides/notesSlide4.xml" Type="http://schemas.openxmlformats.org/officeDocument/2006/relationships/notesSlide"/><Relationship Id="rId27" Target="fonts/font27.fntdata" Type="http://schemas.openxmlformats.org/officeDocument/2006/relationships/font"/><Relationship Id="rId28" Target="fonts/font28.fntdata" Type="http://schemas.openxmlformats.org/officeDocument/2006/relationships/font"/><Relationship Id="rId29" Target="fonts/font29.fntdata" Type="http://schemas.openxmlformats.org/officeDocument/2006/relationships/font"/><Relationship Id="rId3" Target="viewProps.xml" Type="http://schemas.openxmlformats.org/officeDocument/2006/relationships/viewProps"/><Relationship Id="rId30" Target="notesSlides/notesSlide5.xml" Type="http://schemas.openxmlformats.org/officeDocument/2006/relationships/notesSlide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jpeg" Type="http://schemas.openxmlformats.org/officeDocument/2006/relationships/image"/><Relationship Id="rId6" Target="../media/image5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4.jpeg" Type="http://schemas.openxmlformats.org/officeDocument/2006/relationships/image"/><Relationship Id="rId4" Target="../media/image5.png" Type="http://schemas.openxmlformats.org/officeDocument/2006/relationships/image"/><Relationship Id="rId5" Target="../media/image6.png" Type="http://schemas.openxmlformats.org/officeDocument/2006/relationships/image"/><Relationship Id="rId6" Target="../media/image7.png" Type="http://schemas.openxmlformats.org/officeDocument/2006/relationships/image"/><Relationship Id="rId7" Target="../media/image8.png" Type="http://schemas.openxmlformats.org/officeDocument/2006/relationships/image"/><Relationship Id="rId8" Target="../media/image9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4.jpeg" Type="http://schemas.openxmlformats.org/officeDocument/2006/relationships/image"/><Relationship Id="rId4" Target="../media/image5.png" Type="http://schemas.openxmlformats.org/officeDocument/2006/relationships/image"/><Relationship Id="rId5" Target="../media/image10.png" Type="http://schemas.openxmlformats.org/officeDocument/2006/relationships/image"/><Relationship Id="rId6" Target="../media/image11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4.jpeg" Type="http://schemas.openxmlformats.org/officeDocument/2006/relationships/image"/><Relationship Id="rId4" Target="../media/image5.png" Type="http://schemas.openxmlformats.org/officeDocument/2006/relationships/image"/><Relationship Id="rId5" Target="../media/image12.png" Type="http://schemas.openxmlformats.org/officeDocument/2006/relationships/image"/><Relationship Id="rId6" Target="../media/image10.png" Type="http://schemas.openxmlformats.org/officeDocument/2006/relationships/image"/><Relationship Id="rId7" Target="../media/image11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4.jpeg" Type="http://schemas.openxmlformats.org/officeDocument/2006/relationships/image"/><Relationship Id="rId4" Target="../media/image5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4.jpeg" Type="http://schemas.openxmlformats.org/officeDocument/2006/relationships/image"/><Relationship Id="rId4" Target="../media/image5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485165" y="1277283"/>
            <a:ext cx="6957908" cy="7732452"/>
          </a:xfrm>
          <a:custGeom>
            <a:avLst/>
            <a:gdLst/>
            <a:ahLst/>
            <a:cxnLst/>
            <a:rect r="r" b="b" t="t" l="l"/>
            <a:pathLst>
              <a:path h="7732452" w="6957908">
                <a:moveTo>
                  <a:pt x="0" y="0"/>
                </a:moveTo>
                <a:lnTo>
                  <a:pt x="6957908" y="0"/>
                </a:lnTo>
                <a:lnTo>
                  <a:pt x="6957908" y="7732453"/>
                </a:lnTo>
                <a:lnTo>
                  <a:pt x="0" y="7732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0282333" y="2573817"/>
            <a:ext cx="4805267" cy="5139357"/>
            <a:chOff x="0" y="0"/>
            <a:chExt cx="6407023" cy="685247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407023" cy="6852412"/>
            </a:xfrm>
            <a:custGeom>
              <a:avLst/>
              <a:gdLst/>
              <a:ahLst/>
              <a:cxnLst/>
              <a:rect r="r" b="b" t="t" l="l"/>
              <a:pathLst>
                <a:path h="6852412" w="6407023">
                  <a:moveTo>
                    <a:pt x="0" y="0"/>
                  </a:moveTo>
                  <a:lnTo>
                    <a:pt x="6407023" y="0"/>
                  </a:lnTo>
                  <a:lnTo>
                    <a:pt x="6407023" y="6852412"/>
                  </a:lnTo>
                  <a:lnTo>
                    <a:pt x="0" y="68524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49475" b="-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712765" y="-705736"/>
            <a:ext cx="15544800" cy="3114675"/>
            <a:chOff x="0" y="0"/>
            <a:chExt cx="20726400" cy="41529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726400" cy="4152900"/>
            </a:xfrm>
            <a:custGeom>
              <a:avLst/>
              <a:gdLst/>
              <a:ahLst/>
              <a:cxnLst/>
              <a:rect r="r" b="b" t="t" l="l"/>
              <a:pathLst>
                <a:path h="4152900" w="20726400">
                  <a:moveTo>
                    <a:pt x="0" y="0"/>
                  </a:moveTo>
                  <a:lnTo>
                    <a:pt x="20726400" y="0"/>
                  </a:lnTo>
                  <a:lnTo>
                    <a:pt x="20726400" y="4152900"/>
                  </a:lnTo>
                  <a:lnTo>
                    <a:pt x="0" y="415290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47246" r="0" b="-47246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0726400" cy="41719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7200"/>
                </a:lnSpc>
              </a:pPr>
              <a:r>
                <a:rPr lang="en-US" sz="6000" b="true">
                  <a:solidFill>
                    <a:srgbClr val="1F497D"/>
                  </a:solidFill>
                  <a:latin typeface="Garamond Bold"/>
                  <a:ea typeface="Garamond Bold"/>
                  <a:cs typeface="Garamond Bold"/>
                  <a:sym typeface="Garamond Bold"/>
                </a:rPr>
                <a:t>SMART INDIA HACKATHON 2025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726853" y="2167900"/>
            <a:ext cx="9555480" cy="4512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</a:p>
          <a:p>
            <a:pPr algn="just" marL="434340" indent="-217170" lvl="1">
              <a:lnSpc>
                <a:spcPts val="5759"/>
              </a:lnSpc>
              <a:buFont typeface="Arial"/>
              <a:buChar char="•"/>
            </a:pPr>
            <a:r>
              <a:rPr lang="en-US" b="true" sz="2400">
                <a:solidFill>
                  <a:srgbClr val="000000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Problem Statement ID –</a:t>
            </a:r>
            <a:r>
              <a:rPr lang="en-US" sz="2400">
                <a:solidFill>
                  <a:srgbClr val="08384D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  SIH26038</a:t>
            </a:r>
          </a:p>
          <a:p>
            <a:pPr algn="just" marL="434340" indent="-217170" lvl="1">
              <a:lnSpc>
                <a:spcPts val="5759"/>
              </a:lnSpc>
              <a:buFont typeface="Arial"/>
              <a:buChar char="•"/>
            </a:pPr>
            <a:r>
              <a:rPr lang="en-US" b="true" sz="2400">
                <a:solidFill>
                  <a:srgbClr val="000000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Problem Statement Title-</a:t>
            </a:r>
            <a:r>
              <a:rPr lang="en-US" sz="2400">
                <a:solidFill>
                  <a:srgbClr val="08384D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  Explainable AI for Diabetic Retinopathy Screening in Rural India</a:t>
            </a:r>
          </a:p>
          <a:p>
            <a:pPr algn="just" marL="434340" indent="-217170" lvl="1">
              <a:lnSpc>
                <a:spcPts val="5759"/>
              </a:lnSpc>
              <a:buFont typeface="Arial"/>
              <a:buChar char="•"/>
            </a:pPr>
            <a:r>
              <a:rPr lang="en-US" b="true" sz="2400">
                <a:solidFill>
                  <a:srgbClr val="000000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Theme-</a:t>
            </a:r>
            <a:r>
              <a:rPr lang="en-US" sz="2400">
                <a:solidFill>
                  <a:srgbClr val="08384D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  MedTech / BioTech / HealthTech</a:t>
            </a:r>
          </a:p>
          <a:p>
            <a:pPr algn="just" marL="434340" indent="-217170" lvl="1">
              <a:lnSpc>
                <a:spcPts val="5759"/>
              </a:lnSpc>
              <a:buFont typeface="Arial"/>
              <a:buChar char="•"/>
            </a:pPr>
            <a:r>
              <a:rPr lang="en-US" b="true" sz="2400">
                <a:solidFill>
                  <a:srgbClr val="000000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PS Category- </a:t>
            </a:r>
            <a:r>
              <a:rPr lang="en-US" sz="240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Software</a:t>
            </a:r>
          </a:p>
          <a:p>
            <a:pPr algn="just" marL="434340" indent="-217170" lvl="1">
              <a:lnSpc>
                <a:spcPts val="5759"/>
              </a:lnSpc>
              <a:buFont typeface="Arial"/>
              <a:buChar char="•"/>
            </a:pPr>
            <a:r>
              <a:rPr lang="en-US" b="true" sz="2400">
                <a:solidFill>
                  <a:srgbClr val="000000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Team Name (Registered on portal)- </a:t>
            </a:r>
            <a:r>
              <a:rPr lang="en-US" sz="2400">
                <a:solidFill>
                  <a:srgbClr val="08384D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 Veyronix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4762045" y="9449"/>
            <a:ext cx="3313681" cy="1684306"/>
            <a:chOff x="0" y="0"/>
            <a:chExt cx="4418241" cy="2245741"/>
          </a:xfrm>
        </p:grpSpPr>
        <p:sp>
          <p:nvSpPr>
            <p:cNvPr name="Freeform 10" id="10" descr="https://www.sih.gov.in/img1/SIH-Logo.png"/>
            <p:cNvSpPr/>
            <p:nvPr/>
          </p:nvSpPr>
          <p:spPr>
            <a:xfrm flipH="false" flipV="false" rot="0">
              <a:off x="0" y="0"/>
              <a:ext cx="4418203" cy="2245741"/>
            </a:xfrm>
            <a:custGeom>
              <a:avLst/>
              <a:gdLst/>
              <a:ahLst/>
              <a:cxnLst/>
              <a:rect r="r" b="b" t="t" l="l"/>
              <a:pathLst>
                <a:path h="2245741" w="4418203">
                  <a:moveTo>
                    <a:pt x="0" y="0"/>
                  </a:moveTo>
                  <a:lnTo>
                    <a:pt x="4418203" y="0"/>
                  </a:lnTo>
                  <a:lnTo>
                    <a:pt x="4418203" y="2245741"/>
                  </a:lnTo>
                  <a:lnTo>
                    <a:pt x="0" y="22457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7336884" y="402974"/>
            <a:ext cx="2465465" cy="872490"/>
            <a:chOff x="0" y="0"/>
            <a:chExt cx="3287287" cy="116332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287287" cy="1163320"/>
            </a:xfrm>
            <a:custGeom>
              <a:avLst/>
              <a:gdLst/>
              <a:ahLst/>
              <a:cxnLst/>
              <a:rect r="r" b="b" t="t" l="l"/>
              <a:pathLst>
                <a:path h="1163320" w="3287287">
                  <a:moveTo>
                    <a:pt x="0" y="0"/>
                  </a:moveTo>
                  <a:lnTo>
                    <a:pt x="3287287" y="0"/>
                  </a:lnTo>
                  <a:lnTo>
                    <a:pt x="3287287" y="1163320"/>
                  </a:lnTo>
                  <a:lnTo>
                    <a:pt x="0" y="11633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5842" r="-386784" b="-270209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3287287" cy="11633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 b="true">
                  <a:solidFill>
                    <a:srgbClr val="000000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DRISHTI 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2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972300" y="9534525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Template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480060" y="402974"/>
            <a:ext cx="1897128" cy="943694"/>
            <a:chOff x="0" y="0"/>
            <a:chExt cx="2308010" cy="1148080"/>
          </a:xfrm>
        </p:grpSpPr>
        <p:sp>
          <p:nvSpPr>
            <p:cNvPr name="Freeform 14" id="14" descr="Your startup LOGO"/>
            <p:cNvSpPr/>
            <p:nvPr/>
          </p:nvSpPr>
          <p:spPr>
            <a:xfrm flipH="false" flipV="false" rot="0">
              <a:off x="0" y="0"/>
              <a:ext cx="2308010" cy="1148080"/>
            </a:xfrm>
            <a:custGeom>
              <a:avLst/>
              <a:gdLst/>
              <a:ahLst/>
              <a:cxnLst/>
              <a:rect r="r" b="b" t="t" l="l"/>
              <a:pathLst>
                <a:path h="1148080" w="2308010">
                  <a:moveTo>
                    <a:pt x="0" y="574040"/>
                  </a:moveTo>
                  <a:cubicBezTo>
                    <a:pt x="0" y="257048"/>
                    <a:pt x="516627" y="0"/>
                    <a:pt x="1154005" y="0"/>
                  </a:cubicBezTo>
                  <a:cubicBezTo>
                    <a:pt x="1791383" y="0"/>
                    <a:pt x="2308010" y="257048"/>
                    <a:pt x="2308010" y="574040"/>
                  </a:cubicBezTo>
                  <a:cubicBezTo>
                    <a:pt x="2308010" y="891032"/>
                    <a:pt x="1791383" y="1148080"/>
                    <a:pt x="1154005" y="1148080"/>
                  </a:cubicBezTo>
                  <a:cubicBezTo>
                    <a:pt x="516627" y="1148080"/>
                    <a:pt x="0" y="891032"/>
                    <a:pt x="0" y="57404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0"/>
              <a:ext cx="2308010" cy="114808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08384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Veyronix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4762045" y="85649"/>
            <a:ext cx="3313681" cy="1684306"/>
            <a:chOff x="0" y="0"/>
            <a:chExt cx="4418241" cy="2245741"/>
          </a:xfrm>
        </p:grpSpPr>
        <p:sp>
          <p:nvSpPr>
            <p:cNvPr name="Freeform 17" id="17" descr="https://www.sih.gov.in/img1/SIH-Logo.png"/>
            <p:cNvSpPr/>
            <p:nvPr/>
          </p:nvSpPr>
          <p:spPr>
            <a:xfrm flipH="false" flipV="false" rot="0">
              <a:off x="0" y="0"/>
              <a:ext cx="4418203" cy="2245741"/>
            </a:xfrm>
            <a:custGeom>
              <a:avLst/>
              <a:gdLst/>
              <a:ahLst/>
              <a:cxnLst/>
              <a:rect r="r" b="b" t="t" l="l"/>
              <a:pathLst>
                <a:path h="2245741" w="4418203">
                  <a:moveTo>
                    <a:pt x="0" y="0"/>
                  </a:moveTo>
                  <a:lnTo>
                    <a:pt x="4418203" y="0"/>
                  </a:lnTo>
                  <a:lnTo>
                    <a:pt x="4418203" y="2245741"/>
                  </a:lnTo>
                  <a:lnTo>
                    <a:pt x="0" y="22457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723445" y="4761890"/>
            <a:ext cx="2501283" cy="1778317"/>
            <a:chOff x="0" y="0"/>
            <a:chExt cx="658749" cy="46837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58749" cy="468376"/>
            </a:xfrm>
            <a:custGeom>
              <a:avLst/>
              <a:gdLst/>
              <a:ahLst/>
              <a:cxnLst/>
              <a:rect r="r" b="b" t="t" l="l"/>
              <a:pathLst>
                <a:path h="468376" w="658749">
                  <a:moveTo>
                    <a:pt x="658749" y="117617"/>
                  </a:moveTo>
                  <a:lnTo>
                    <a:pt x="658749" y="350759"/>
                  </a:lnTo>
                  <a:cubicBezTo>
                    <a:pt x="658749" y="381953"/>
                    <a:pt x="646357" y="411869"/>
                    <a:pt x="624300" y="433927"/>
                  </a:cubicBezTo>
                  <a:cubicBezTo>
                    <a:pt x="602242" y="455984"/>
                    <a:pt x="572326" y="468376"/>
                    <a:pt x="541132" y="468376"/>
                  </a:cubicBezTo>
                  <a:lnTo>
                    <a:pt x="117617" y="468376"/>
                  </a:lnTo>
                  <a:cubicBezTo>
                    <a:pt x="52659" y="468376"/>
                    <a:pt x="0" y="415717"/>
                    <a:pt x="0" y="350759"/>
                  </a:cubicBezTo>
                  <a:lnTo>
                    <a:pt x="0" y="117617"/>
                  </a:lnTo>
                  <a:cubicBezTo>
                    <a:pt x="0" y="52659"/>
                    <a:pt x="52659" y="0"/>
                    <a:pt x="117617" y="0"/>
                  </a:cubicBezTo>
                  <a:lnTo>
                    <a:pt x="541132" y="0"/>
                  </a:lnTo>
                  <a:cubicBezTo>
                    <a:pt x="606090" y="0"/>
                    <a:pt x="658749" y="52659"/>
                    <a:pt x="658749" y="117617"/>
                  </a:cubicBezTo>
                  <a:close/>
                </a:path>
              </a:pathLst>
            </a:custGeom>
            <a:solidFill>
              <a:srgbClr val="DCE6F2"/>
            </a:solidFill>
            <a:ln w="38100" cap="rnd">
              <a:solidFill>
                <a:srgbClr val="0C5575"/>
              </a:solidFill>
              <a:prstDash val="solid"/>
              <a:round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0" y="-9525"/>
              <a:ext cx="658749" cy="4779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3496059" y="4761890"/>
            <a:ext cx="2501283" cy="1778317"/>
            <a:chOff x="0" y="0"/>
            <a:chExt cx="658749" cy="468376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658749" cy="468376"/>
            </a:xfrm>
            <a:custGeom>
              <a:avLst/>
              <a:gdLst/>
              <a:ahLst/>
              <a:cxnLst/>
              <a:rect r="r" b="b" t="t" l="l"/>
              <a:pathLst>
                <a:path h="468376" w="658749">
                  <a:moveTo>
                    <a:pt x="658749" y="117617"/>
                  </a:moveTo>
                  <a:lnTo>
                    <a:pt x="658749" y="350759"/>
                  </a:lnTo>
                  <a:cubicBezTo>
                    <a:pt x="658749" y="381953"/>
                    <a:pt x="646357" y="411869"/>
                    <a:pt x="624300" y="433927"/>
                  </a:cubicBezTo>
                  <a:cubicBezTo>
                    <a:pt x="602242" y="455984"/>
                    <a:pt x="572326" y="468376"/>
                    <a:pt x="541132" y="468376"/>
                  </a:cubicBezTo>
                  <a:lnTo>
                    <a:pt x="117617" y="468376"/>
                  </a:lnTo>
                  <a:cubicBezTo>
                    <a:pt x="52659" y="468376"/>
                    <a:pt x="0" y="415717"/>
                    <a:pt x="0" y="350759"/>
                  </a:cubicBezTo>
                  <a:lnTo>
                    <a:pt x="0" y="117617"/>
                  </a:lnTo>
                  <a:cubicBezTo>
                    <a:pt x="0" y="52659"/>
                    <a:pt x="52659" y="0"/>
                    <a:pt x="117617" y="0"/>
                  </a:cubicBezTo>
                  <a:lnTo>
                    <a:pt x="541132" y="0"/>
                  </a:lnTo>
                  <a:cubicBezTo>
                    <a:pt x="606090" y="0"/>
                    <a:pt x="658749" y="52659"/>
                    <a:pt x="658749" y="117617"/>
                  </a:cubicBezTo>
                  <a:close/>
                </a:path>
              </a:pathLst>
            </a:custGeom>
            <a:solidFill>
              <a:srgbClr val="DCE6F2"/>
            </a:solidFill>
            <a:ln w="38100" cap="rnd">
              <a:solidFill>
                <a:srgbClr val="0C5575"/>
              </a:solidFill>
              <a:prstDash val="solid"/>
              <a:round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9525"/>
              <a:ext cx="658749" cy="4779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6311666" y="4761890"/>
            <a:ext cx="2501283" cy="1778317"/>
            <a:chOff x="0" y="0"/>
            <a:chExt cx="658749" cy="468376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658749" cy="468376"/>
            </a:xfrm>
            <a:custGeom>
              <a:avLst/>
              <a:gdLst/>
              <a:ahLst/>
              <a:cxnLst/>
              <a:rect r="r" b="b" t="t" l="l"/>
              <a:pathLst>
                <a:path h="468376" w="658749">
                  <a:moveTo>
                    <a:pt x="658749" y="117617"/>
                  </a:moveTo>
                  <a:lnTo>
                    <a:pt x="658749" y="350759"/>
                  </a:lnTo>
                  <a:cubicBezTo>
                    <a:pt x="658749" y="381953"/>
                    <a:pt x="646357" y="411869"/>
                    <a:pt x="624300" y="433927"/>
                  </a:cubicBezTo>
                  <a:cubicBezTo>
                    <a:pt x="602242" y="455984"/>
                    <a:pt x="572326" y="468376"/>
                    <a:pt x="541132" y="468376"/>
                  </a:cubicBezTo>
                  <a:lnTo>
                    <a:pt x="117617" y="468376"/>
                  </a:lnTo>
                  <a:cubicBezTo>
                    <a:pt x="52659" y="468376"/>
                    <a:pt x="0" y="415717"/>
                    <a:pt x="0" y="350759"/>
                  </a:cubicBezTo>
                  <a:lnTo>
                    <a:pt x="0" y="117617"/>
                  </a:lnTo>
                  <a:cubicBezTo>
                    <a:pt x="0" y="52659"/>
                    <a:pt x="52659" y="0"/>
                    <a:pt x="117617" y="0"/>
                  </a:cubicBezTo>
                  <a:lnTo>
                    <a:pt x="541132" y="0"/>
                  </a:lnTo>
                  <a:cubicBezTo>
                    <a:pt x="606090" y="0"/>
                    <a:pt x="658749" y="52659"/>
                    <a:pt x="658749" y="117617"/>
                  </a:cubicBezTo>
                  <a:close/>
                </a:path>
              </a:pathLst>
            </a:custGeom>
            <a:solidFill>
              <a:srgbClr val="DCE6F2"/>
            </a:solidFill>
            <a:ln w="38100" cap="rnd">
              <a:solidFill>
                <a:srgbClr val="0C5575"/>
              </a:solidFill>
              <a:prstDash val="solid"/>
              <a:round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9525"/>
              <a:ext cx="658749" cy="4779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9101128" y="4761890"/>
            <a:ext cx="2501283" cy="1778317"/>
            <a:chOff x="0" y="0"/>
            <a:chExt cx="658749" cy="468376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658749" cy="468376"/>
            </a:xfrm>
            <a:custGeom>
              <a:avLst/>
              <a:gdLst/>
              <a:ahLst/>
              <a:cxnLst/>
              <a:rect r="r" b="b" t="t" l="l"/>
              <a:pathLst>
                <a:path h="468376" w="658749">
                  <a:moveTo>
                    <a:pt x="658749" y="117617"/>
                  </a:moveTo>
                  <a:lnTo>
                    <a:pt x="658749" y="350759"/>
                  </a:lnTo>
                  <a:cubicBezTo>
                    <a:pt x="658749" y="381953"/>
                    <a:pt x="646357" y="411869"/>
                    <a:pt x="624300" y="433927"/>
                  </a:cubicBezTo>
                  <a:cubicBezTo>
                    <a:pt x="602242" y="455984"/>
                    <a:pt x="572326" y="468376"/>
                    <a:pt x="541132" y="468376"/>
                  </a:cubicBezTo>
                  <a:lnTo>
                    <a:pt x="117617" y="468376"/>
                  </a:lnTo>
                  <a:cubicBezTo>
                    <a:pt x="52659" y="468376"/>
                    <a:pt x="0" y="415717"/>
                    <a:pt x="0" y="350759"/>
                  </a:cubicBezTo>
                  <a:lnTo>
                    <a:pt x="0" y="117617"/>
                  </a:lnTo>
                  <a:cubicBezTo>
                    <a:pt x="0" y="52659"/>
                    <a:pt x="52659" y="0"/>
                    <a:pt x="117617" y="0"/>
                  </a:cubicBezTo>
                  <a:lnTo>
                    <a:pt x="541132" y="0"/>
                  </a:lnTo>
                  <a:cubicBezTo>
                    <a:pt x="606090" y="0"/>
                    <a:pt x="658749" y="52659"/>
                    <a:pt x="658749" y="117617"/>
                  </a:cubicBezTo>
                  <a:close/>
                </a:path>
              </a:pathLst>
            </a:custGeom>
            <a:solidFill>
              <a:srgbClr val="DCE6F2"/>
            </a:solidFill>
            <a:ln w="38100" cap="rnd">
              <a:solidFill>
                <a:srgbClr val="0C5575"/>
              </a:solidFill>
              <a:prstDash val="solid"/>
              <a:round/>
            </a:ln>
          </p:spPr>
        </p:sp>
        <p:sp>
          <p:nvSpPr>
            <p:cNvPr name="TextBox 29" id="29"/>
            <p:cNvSpPr txBox="true"/>
            <p:nvPr/>
          </p:nvSpPr>
          <p:spPr>
            <a:xfrm>
              <a:off x="0" y="-9525"/>
              <a:ext cx="658749" cy="4779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1956164" y="4761890"/>
            <a:ext cx="2501283" cy="1778317"/>
            <a:chOff x="0" y="0"/>
            <a:chExt cx="658749" cy="46837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658749" cy="468376"/>
            </a:xfrm>
            <a:custGeom>
              <a:avLst/>
              <a:gdLst/>
              <a:ahLst/>
              <a:cxnLst/>
              <a:rect r="r" b="b" t="t" l="l"/>
              <a:pathLst>
                <a:path h="468376" w="658749">
                  <a:moveTo>
                    <a:pt x="658749" y="117617"/>
                  </a:moveTo>
                  <a:lnTo>
                    <a:pt x="658749" y="350759"/>
                  </a:lnTo>
                  <a:cubicBezTo>
                    <a:pt x="658749" y="381953"/>
                    <a:pt x="646357" y="411869"/>
                    <a:pt x="624300" y="433927"/>
                  </a:cubicBezTo>
                  <a:cubicBezTo>
                    <a:pt x="602242" y="455984"/>
                    <a:pt x="572326" y="468376"/>
                    <a:pt x="541132" y="468376"/>
                  </a:cubicBezTo>
                  <a:lnTo>
                    <a:pt x="117617" y="468376"/>
                  </a:lnTo>
                  <a:cubicBezTo>
                    <a:pt x="52659" y="468376"/>
                    <a:pt x="0" y="415717"/>
                    <a:pt x="0" y="350759"/>
                  </a:cubicBezTo>
                  <a:lnTo>
                    <a:pt x="0" y="117617"/>
                  </a:lnTo>
                  <a:cubicBezTo>
                    <a:pt x="0" y="52659"/>
                    <a:pt x="52659" y="0"/>
                    <a:pt x="117617" y="0"/>
                  </a:cubicBezTo>
                  <a:lnTo>
                    <a:pt x="541132" y="0"/>
                  </a:lnTo>
                  <a:cubicBezTo>
                    <a:pt x="606090" y="0"/>
                    <a:pt x="658749" y="52659"/>
                    <a:pt x="658749" y="117617"/>
                  </a:cubicBezTo>
                  <a:close/>
                </a:path>
              </a:pathLst>
            </a:custGeom>
            <a:solidFill>
              <a:srgbClr val="DCE6F2"/>
            </a:solidFill>
            <a:ln w="38100" cap="rnd">
              <a:solidFill>
                <a:srgbClr val="0C5575"/>
              </a:solidFill>
              <a:prstDash val="solid"/>
              <a:round/>
            </a:ln>
          </p:spPr>
        </p:sp>
        <p:sp>
          <p:nvSpPr>
            <p:cNvPr name="TextBox 32" id="32"/>
            <p:cNvSpPr txBox="true"/>
            <p:nvPr/>
          </p:nvSpPr>
          <p:spPr>
            <a:xfrm>
              <a:off x="0" y="-9525"/>
              <a:ext cx="658749" cy="4779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4776891" y="4761890"/>
            <a:ext cx="2501283" cy="1778317"/>
            <a:chOff x="0" y="0"/>
            <a:chExt cx="658749" cy="468376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658749" cy="468376"/>
            </a:xfrm>
            <a:custGeom>
              <a:avLst/>
              <a:gdLst/>
              <a:ahLst/>
              <a:cxnLst/>
              <a:rect r="r" b="b" t="t" l="l"/>
              <a:pathLst>
                <a:path h="468376" w="658749">
                  <a:moveTo>
                    <a:pt x="658749" y="117617"/>
                  </a:moveTo>
                  <a:lnTo>
                    <a:pt x="658749" y="350759"/>
                  </a:lnTo>
                  <a:cubicBezTo>
                    <a:pt x="658749" y="381953"/>
                    <a:pt x="646357" y="411869"/>
                    <a:pt x="624300" y="433927"/>
                  </a:cubicBezTo>
                  <a:cubicBezTo>
                    <a:pt x="602242" y="455984"/>
                    <a:pt x="572326" y="468376"/>
                    <a:pt x="541132" y="468376"/>
                  </a:cubicBezTo>
                  <a:lnTo>
                    <a:pt x="117617" y="468376"/>
                  </a:lnTo>
                  <a:cubicBezTo>
                    <a:pt x="52659" y="468376"/>
                    <a:pt x="0" y="415717"/>
                    <a:pt x="0" y="350759"/>
                  </a:cubicBezTo>
                  <a:lnTo>
                    <a:pt x="0" y="117617"/>
                  </a:lnTo>
                  <a:cubicBezTo>
                    <a:pt x="0" y="52659"/>
                    <a:pt x="52659" y="0"/>
                    <a:pt x="117617" y="0"/>
                  </a:cubicBezTo>
                  <a:lnTo>
                    <a:pt x="541132" y="0"/>
                  </a:lnTo>
                  <a:cubicBezTo>
                    <a:pt x="606090" y="0"/>
                    <a:pt x="658749" y="52659"/>
                    <a:pt x="658749" y="117617"/>
                  </a:cubicBezTo>
                  <a:close/>
                </a:path>
              </a:pathLst>
            </a:custGeom>
            <a:solidFill>
              <a:srgbClr val="DCE6F2"/>
            </a:solidFill>
            <a:ln w="38100" cap="rnd">
              <a:solidFill>
                <a:srgbClr val="0C5575"/>
              </a:solidFill>
              <a:prstDash val="solid"/>
              <a:round/>
            </a:ln>
          </p:spPr>
        </p:sp>
        <p:sp>
          <p:nvSpPr>
            <p:cNvPr name="TextBox 35" id="35"/>
            <p:cNvSpPr txBox="true"/>
            <p:nvPr/>
          </p:nvSpPr>
          <p:spPr>
            <a:xfrm>
              <a:off x="0" y="-9525"/>
              <a:ext cx="658749" cy="4779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747167" y="3922144"/>
            <a:ext cx="2453838" cy="775738"/>
            <a:chOff x="0" y="0"/>
            <a:chExt cx="862849" cy="272758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862849" cy="272758"/>
            </a:xfrm>
            <a:custGeom>
              <a:avLst/>
              <a:gdLst/>
              <a:ahLst/>
              <a:cxnLst/>
              <a:rect r="r" b="b" t="t" l="l"/>
              <a:pathLst>
                <a:path h="272758" w="862849">
                  <a:moveTo>
                    <a:pt x="862849" y="136379"/>
                  </a:moveTo>
                  <a:lnTo>
                    <a:pt x="862849" y="136379"/>
                  </a:lnTo>
                  <a:cubicBezTo>
                    <a:pt x="862849" y="172549"/>
                    <a:pt x="848480" y="207237"/>
                    <a:pt x="822904" y="232813"/>
                  </a:cubicBezTo>
                  <a:cubicBezTo>
                    <a:pt x="797328" y="258389"/>
                    <a:pt x="762640" y="272758"/>
                    <a:pt x="726470" y="272758"/>
                  </a:cubicBezTo>
                  <a:lnTo>
                    <a:pt x="136379" y="272758"/>
                  </a:lnTo>
                  <a:cubicBezTo>
                    <a:pt x="100209" y="272758"/>
                    <a:pt x="65520" y="258389"/>
                    <a:pt x="39944" y="232813"/>
                  </a:cubicBezTo>
                  <a:cubicBezTo>
                    <a:pt x="14368" y="207237"/>
                    <a:pt x="0" y="172549"/>
                    <a:pt x="0" y="136379"/>
                  </a:cubicBezTo>
                  <a:lnTo>
                    <a:pt x="0" y="136379"/>
                  </a:lnTo>
                  <a:cubicBezTo>
                    <a:pt x="0" y="100209"/>
                    <a:pt x="14368" y="65520"/>
                    <a:pt x="39944" y="39944"/>
                  </a:cubicBezTo>
                  <a:cubicBezTo>
                    <a:pt x="65520" y="14368"/>
                    <a:pt x="100209" y="0"/>
                    <a:pt x="136379" y="0"/>
                  </a:cubicBezTo>
                  <a:lnTo>
                    <a:pt x="726470" y="0"/>
                  </a:lnTo>
                  <a:cubicBezTo>
                    <a:pt x="801790" y="0"/>
                    <a:pt x="862849" y="61059"/>
                    <a:pt x="862849" y="136379"/>
                  </a:cubicBezTo>
                  <a:close/>
                </a:path>
              </a:pathLst>
            </a:custGeom>
            <a:solidFill>
              <a:srgbClr val="14919B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9525"/>
              <a:ext cx="862849" cy="2822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3587397" y="3922144"/>
            <a:ext cx="2453838" cy="775738"/>
            <a:chOff x="0" y="0"/>
            <a:chExt cx="862849" cy="272758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862849" cy="272758"/>
            </a:xfrm>
            <a:custGeom>
              <a:avLst/>
              <a:gdLst/>
              <a:ahLst/>
              <a:cxnLst/>
              <a:rect r="r" b="b" t="t" l="l"/>
              <a:pathLst>
                <a:path h="272758" w="862849">
                  <a:moveTo>
                    <a:pt x="862849" y="136379"/>
                  </a:moveTo>
                  <a:lnTo>
                    <a:pt x="862849" y="136379"/>
                  </a:lnTo>
                  <a:cubicBezTo>
                    <a:pt x="862849" y="172549"/>
                    <a:pt x="848480" y="207237"/>
                    <a:pt x="822904" y="232813"/>
                  </a:cubicBezTo>
                  <a:cubicBezTo>
                    <a:pt x="797328" y="258389"/>
                    <a:pt x="762640" y="272758"/>
                    <a:pt x="726470" y="272758"/>
                  </a:cubicBezTo>
                  <a:lnTo>
                    <a:pt x="136379" y="272758"/>
                  </a:lnTo>
                  <a:cubicBezTo>
                    <a:pt x="100209" y="272758"/>
                    <a:pt x="65520" y="258389"/>
                    <a:pt x="39944" y="232813"/>
                  </a:cubicBezTo>
                  <a:cubicBezTo>
                    <a:pt x="14368" y="207237"/>
                    <a:pt x="0" y="172549"/>
                    <a:pt x="0" y="136379"/>
                  </a:cubicBezTo>
                  <a:lnTo>
                    <a:pt x="0" y="136379"/>
                  </a:lnTo>
                  <a:cubicBezTo>
                    <a:pt x="0" y="100209"/>
                    <a:pt x="14368" y="65520"/>
                    <a:pt x="39944" y="39944"/>
                  </a:cubicBezTo>
                  <a:cubicBezTo>
                    <a:pt x="65520" y="14368"/>
                    <a:pt x="100209" y="0"/>
                    <a:pt x="136379" y="0"/>
                  </a:cubicBezTo>
                  <a:lnTo>
                    <a:pt x="726470" y="0"/>
                  </a:lnTo>
                  <a:cubicBezTo>
                    <a:pt x="801790" y="0"/>
                    <a:pt x="862849" y="61059"/>
                    <a:pt x="862849" y="136379"/>
                  </a:cubicBezTo>
                  <a:close/>
                </a:path>
              </a:pathLst>
            </a:custGeom>
            <a:solidFill>
              <a:srgbClr val="0B4F6C"/>
            </a:solid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9525"/>
              <a:ext cx="862849" cy="2822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6359111" y="3922144"/>
            <a:ext cx="2453838" cy="775738"/>
            <a:chOff x="0" y="0"/>
            <a:chExt cx="862849" cy="272758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862849" cy="272758"/>
            </a:xfrm>
            <a:custGeom>
              <a:avLst/>
              <a:gdLst/>
              <a:ahLst/>
              <a:cxnLst/>
              <a:rect r="r" b="b" t="t" l="l"/>
              <a:pathLst>
                <a:path h="272758" w="862849">
                  <a:moveTo>
                    <a:pt x="862849" y="136379"/>
                  </a:moveTo>
                  <a:lnTo>
                    <a:pt x="862849" y="136379"/>
                  </a:lnTo>
                  <a:cubicBezTo>
                    <a:pt x="862849" y="172549"/>
                    <a:pt x="848480" y="207237"/>
                    <a:pt x="822904" y="232813"/>
                  </a:cubicBezTo>
                  <a:cubicBezTo>
                    <a:pt x="797328" y="258389"/>
                    <a:pt x="762640" y="272758"/>
                    <a:pt x="726470" y="272758"/>
                  </a:cubicBezTo>
                  <a:lnTo>
                    <a:pt x="136379" y="272758"/>
                  </a:lnTo>
                  <a:cubicBezTo>
                    <a:pt x="100209" y="272758"/>
                    <a:pt x="65520" y="258389"/>
                    <a:pt x="39944" y="232813"/>
                  </a:cubicBezTo>
                  <a:cubicBezTo>
                    <a:pt x="14368" y="207237"/>
                    <a:pt x="0" y="172549"/>
                    <a:pt x="0" y="136379"/>
                  </a:cubicBezTo>
                  <a:lnTo>
                    <a:pt x="0" y="136379"/>
                  </a:lnTo>
                  <a:cubicBezTo>
                    <a:pt x="0" y="100209"/>
                    <a:pt x="14368" y="65520"/>
                    <a:pt x="39944" y="39944"/>
                  </a:cubicBezTo>
                  <a:cubicBezTo>
                    <a:pt x="65520" y="14368"/>
                    <a:pt x="100209" y="0"/>
                    <a:pt x="136379" y="0"/>
                  </a:cubicBezTo>
                  <a:lnTo>
                    <a:pt x="726470" y="0"/>
                  </a:lnTo>
                  <a:cubicBezTo>
                    <a:pt x="801790" y="0"/>
                    <a:pt x="862849" y="61059"/>
                    <a:pt x="862849" y="136379"/>
                  </a:cubicBezTo>
                  <a:close/>
                </a:path>
              </a:pathLst>
            </a:custGeom>
            <a:solidFill>
              <a:srgbClr val="0B4F6C"/>
            </a:solid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9525"/>
              <a:ext cx="862849" cy="2822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9148572" y="3922144"/>
            <a:ext cx="2453838" cy="775738"/>
            <a:chOff x="0" y="0"/>
            <a:chExt cx="862849" cy="272758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862849" cy="272758"/>
            </a:xfrm>
            <a:custGeom>
              <a:avLst/>
              <a:gdLst/>
              <a:ahLst/>
              <a:cxnLst/>
              <a:rect r="r" b="b" t="t" l="l"/>
              <a:pathLst>
                <a:path h="272758" w="862849">
                  <a:moveTo>
                    <a:pt x="862849" y="136379"/>
                  </a:moveTo>
                  <a:lnTo>
                    <a:pt x="862849" y="136379"/>
                  </a:lnTo>
                  <a:cubicBezTo>
                    <a:pt x="862849" y="172549"/>
                    <a:pt x="848480" y="207237"/>
                    <a:pt x="822904" y="232813"/>
                  </a:cubicBezTo>
                  <a:cubicBezTo>
                    <a:pt x="797328" y="258389"/>
                    <a:pt x="762640" y="272758"/>
                    <a:pt x="726470" y="272758"/>
                  </a:cubicBezTo>
                  <a:lnTo>
                    <a:pt x="136379" y="272758"/>
                  </a:lnTo>
                  <a:cubicBezTo>
                    <a:pt x="100209" y="272758"/>
                    <a:pt x="65520" y="258389"/>
                    <a:pt x="39944" y="232813"/>
                  </a:cubicBezTo>
                  <a:cubicBezTo>
                    <a:pt x="14368" y="207237"/>
                    <a:pt x="0" y="172549"/>
                    <a:pt x="0" y="136379"/>
                  </a:cubicBezTo>
                  <a:lnTo>
                    <a:pt x="0" y="136379"/>
                  </a:lnTo>
                  <a:cubicBezTo>
                    <a:pt x="0" y="100209"/>
                    <a:pt x="14368" y="65520"/>
                    <a:pt x="39944" y="39944"/>
                  </a:cubicBezTo>
                  <a:cubicBezTo>
                    <a:pt x="65520" y="14368"/>
                    <a:pt x="100209" y="0"/>
                    <a:pt x="136379" y="0"/>
                  </a:cubicBezTo>
                  <a:lnTo>
                    <a:pt x="726470" y="0"/>
                  </a:lnTo>
                  <a:cubicBezTo>
                    <a:pt x="801790" y="0"/>
                    <a:pt x="862849" y="61059"/>
                    <a:pt x="862849" y="136379"/>
                  </a:cubicBezTo>
                  <a:close/>
                </a:path>
              </a:pathLst>
            </a:custGeom>
            <a:solidFill>
              <a:srgbClr val="0B4F6C"/>
            </a:solidFill>
          </p:spPr>
        </p:sp>
        <p:sp>
          <p:nvSpPr>
            <p:cNvPr name="TextBox 47" id="47"/>
            <p:cNvSpPr txBox="true"/>
            <p:nvPr/>
          </p:nvSpPr>
          <p:spPr>
            <a:xfrm>
              <a:off x="0" y="-9525"/>
              <a:ext cx="862849" cy="2822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12017986" y="3922144"/>
            <a:ext cx="2453838" cy="775738"/>
            <a:chOff x="0" y="0"/>
            <a:chExt cx="862849" cy="272758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862849" cy="272758"/>
            </a:xfrm>
            <a:custGeom>
              <a:avLst/>
              <a:gdLst/>
              <a:ahLst/>
              <a:cxnLst/>
              <a:rect r="r" b="b" t="t" l="l"/>
              <a:pathLst>
                <a:path h="272758" w="862849">
                  <a:moveTo>
                    <a:pt x="862849" y="136379"/>
                  </a:moveTo>
                  <a:lnTo>
                    <a:pt x="862849" y="136379"/>
                  </a:lnTo>
                  <a:cubicBezTo>
                    <a:pt x="862849" y="172549"/>
                    <a:pt x="848480" y="207237"/>
                    <a:pt x="822904" y="232813"/>
                  </a:cubicBezTo>
                  <a:cubicBezTo>
                    <a:pt x="797328" y="258389"/>
                    <a:pt x="762640" y="272758"/>
                    <a:pt x="726470" y="272758"/>
                  </a:cubicBezTo>
                  <a:lnTo>
                    <a:pt x="136379" y="272758"/>
                  </a:lnTo>
                  <a:cubicBezTo>
                    <a:pt x="100209" y="272758"/>
                    <a:pt x="65520" y="258389"/>
                    <a:pt x="39944" y="232813"/>
                  </a:cubicBezTo>
                  <a:cubicBezTo>
                    <a:pt x="14368" y="207237"/>
                    <a:pt x="0" y="172549"/>
                    <a:pt x="0" y="136379"/>
                  </a:cubicBezTo>
                  <a:lnTo>
                    <a:pt x="0" y="136379"/>
                  </a:lnTo>
                  <a:cubicBezTo>
                    <a:pt x="0" y="100209"/>
                    <a:pt x="14368" y="65520"/>
                    <a:pt x="39944" y="39944"/>
                  </a:cubicBezTo>
                  <a:cubicBezTo>
                    <a:pt x="65520" y="14368"/>
                    <a:pt x="100209" y="0"/>
                    <a:pt x="136379" y="0"/>
                  </a:cubicBezTo>
                  <a:lnTo>
                    <a:pt x="726470" y="0"/>
                  </a:lnTo>
                  <a:cubicBezTo>
                    <a:pt x="801790" y="0"/>
                    <a:pt x="862849" y="61059"/>
                    <a:pt x="862849" y="136379"/>
                  </a:cubicBezTo>
                  <a:close/>
                </a:path>
              </a:pathLst>
            </a:custGeom>
            <a:solidFill>
              <a:srgbClr val="14919B"/>
            </a:solid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9525"/>
              <a:ext cx="862849" cy="2822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14806794" y="3926467"/>
            <a:ext cx="2453838" cy="775738"/>
            <a:chOff x="0" y="0"/>
            <a:chExt cx="862849" cy="272758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862849" cy="272758"/>
            </a:xfrm>
            <a:custGeom>
              <a:avLst/>
              <a:gdLst/>
              <a:ahLst/>
              <a:cxnLst/>
              <a:rect r="r" b="b" t="t" l="l"/>
              <a:pathLst>
                <a:path h="272758" w="862849">
                  <a:moveTo>
                    <a:pt x="862849" y="136379"/>
                  </a:moveTo>
                  <a:lnTo>
                    <a:pt x="862849" y="136379"/>
                  </a:lnTo>
                  <a:cubicBezTo>
                    <a:pt x="862849" y="172549"/>
                    <a:pt x="848480" y="207237"/>
                    <a:pt x="822904" y="232813"/>
                  </a:cubicBezTo>
                  <a:cubicBezTo>
                    <a:pt x="797328" y="258389"/>
                    <a:pt x="762640" y="272758"/>
                    <a:pt x="726470" y="272758"/>
                  </a:cubicBezTo>
                  <a:lnTo>
                    <a:pt x="136379" y="272758"/>
                  </a:lnTo>
                  <a:cubicBezTo>
                    <a:pt x="100209" y="272758"/>
                    <a:pt x="65520" y="258389"/>
                    <a:pt x="39944" y="232813"/>
                  </a:cubicBezTo>
                  <a:cubicBezTo>
                    <a:pt x="14368" y="207237"/>
                    <a:pt x="0" y="172549"/>
                    <a:pt x="0" y="136379"/>
                  </a:cubicBezTo>
                  <a:lnTo>
                    <a:pt x="0" y="136379"/>
                  </a:lnTo>
                  <a:cubicBezTo>
                    <a:pt x="0" y="100209"/>
                    <a:pt x="14368" y="65520"/>
                    <a:pt x="39944" y="39944"/>
                  </a:cubicBezTo>
                  <a:cubicBezTo>
                    <a:pt x="65520" y="14368"/>
                    <a:pt x="100209" y="0"/>
                    <a:pt x="136379" y="0"/>
                  </a:cubicBezTo>
                  <a:lnTo>
                    <a:pt x="726470" y="0"/>
                  </a:lnTo>
                  <a:cubicBezTo>
                    <a:pt x="801790" y="0"/>
                    <a:pt x="862849" y="61059"/>
                    <a:pt x="862849" y="136379"/>
                  </a:cubicBezTo>
                  <a:close/>
                </a:path>
              </a:pathLst>
            </a:custGeom>
            <a:solidFill>
              <a:srgbClr val="F16315"/>
            </a:solid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9525"/>
              <a:ext cx="862849" cy="2822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sp>
        <p:nvSpPr>
          <p:cNvPr name="TextBox 54" id="54"/>
          <p:cNvSpPr txBox="true"/>
          <p:nvPr/>
        </p:nvSpPr>
        <p:spPr>
          <a:xfrm rot="0">
            <a:off x="3528975" y="4052959"/>
            <a:ext cx="2401511" cy="47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49"/>
              </a:lnSpc>
              <a:spcBef>
                <a:spcPct val="0"/>
              </a:spcBef>
            </a:pPr>
            <a:r>
              <a:rPr lang="en-US" sz="1624">
                <a:solidFill>
                  <a:srgbClr val="FFFFFF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Ad</a:t>
            </a:r>
            <a:r>
              <a:rPr lang="en-US" sz="1624">
                <a:solidFill>
                  <a:srgbClr val="FFFFFF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aptive Enhancement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6877307" y="4071889"/>
            <a:ext cx="1775965" cy="47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49"/>
              </a:lnSpc>
              <a:spcBef>
                <a:spcPct val="0"/>
              </a:spcBef>
            </a:pPr>
            <a:r>
              <a:rPr lang="en-US" sz="1624">
                <a:solidFill>
                  <a:srgbClr val="FFFFFF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Lesion Se</a:t>
            </a:r>
            <a:r>
              <a:rPr lang="en-US" sz="1624">
                <a:solidFill>
                  <a:srgbClr val="FFFFFF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gmentation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9294511" y="3838086"/>
            <a:ext cx="2161961" cy="714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49"/>
              </a:lnSpc>
            </a:pPr>
          </a:p>
          <a:p>
            <a:pPr algn="r">
              <a:lnSpc>
                <a:spcPts val="1949"/>
              </a:lnSpc>
              <a:spcBef>
                <a:spcPct val="0"/>
              </a:spcBef>
            </a:pPr>
            <a:r>
              <a:rPr lang="en-US" sz="1624">
                <a:solidFill>
                  <a:srgbClr val="FFFFFF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IICDR Severity Grading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11778301" y="4052959"/>
            <a:ext cx="2581339" cy="47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49"/>
              </a:lnSpc>
              <a:spcBef>
                <a:spcPct val="0"/>
              </a:spcBef>
            </a:pPr>
            <a:r>
              <a:rPr lang="en-US" b="true" sz="1624">
                <a:solidFill>
                  <a:srgbClr val="FFFFFF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Explainability + Confidence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14972244" y="4076211"/>
            <a:ext cx="2188676" cy="47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49"/>
              </a:lnSpc>
              <a:spcBef>
                <a:spcPct val="0"/>
              </a:spcBef>
            </a:pPr>
            <a:r>
              <a:rPr lang="en-US" b="true" sz="1624">
                <a:solidFill>
                  <a:srgbClr val="FFFFFF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Report + Voice Read-out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1073408" y="4124240"/>
            <a:ext cx="89416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49"/>
              </a:lnSpc>
              <a:spcBef>
                <a:spcPct val="0"/>
              </a:spcBef>
            </a:pPr>
            <a:r>
              <a:rPr lang="en-US" sz="2124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1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3884700" y="4133922"/>
            <a:ext cx="133350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49"/>
              </a:lnSpc>
              <a:spcBef>
                <a:spcPct val="0"/>
              </a:spcBef>
            </a:pPr>
            <a:r>
              <a:rPr lang="en-US" sz="2124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2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6689636" y="4133922"/>
            <a:ext cx="133350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49"/>
              </a:lnSpc>
              <a:spcBef>
                <a:spcPct val="0"/>
              </a:spcBef>
            </a:pPr>
            <a:r>
              <a:rPr lang="en-US" sz="2124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3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9453841" y="4124240"/>
            <a:ext cx="133350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49"/>
              </a:lnSpc>
              <a:spcBef>
                <a:spcPct val="0"/>
              </a:spcBef>
            </a:pPr>
            <a:r>
              <a:rPr lang="en-US" sz="2124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4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12284724" y="4152851"/>
            <a:ext cx="133350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49"/>
              </a:lnSpc>
              <a:spcBef>
                <a:spcPct val="0"/>
              </a:spcBef>
            </a:pPr>
            <a:r>
              <a:rPr lang="en-US" sz="2124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5</a:t>
            </a:r>
          </a:p>
        </p:txBody>
      </p:sp>
      <p:sp>
        <p:nvSpPr>
          <p:cNvPr name="TextBox 64" id="64"/>
          <p:cNvSpPr txBox="true"/>
          <p:nvPr/>
        </p:nvSpPr>
        <p:spPr>
          <a:xfrm rot="0">
            <a:off x="15048444" y="4157174"/>
            <a:ext cx="133350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49"/>
              </a:lnSpc>
              <a:spcBef>
                <a:spcPct val="0"/>
              </a:spcBef>
            </a:pPr>
            <a:r>
              <a:rPr lang="en-US" sz="2124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6</a:t>
            </a:r>
          </a:p>
        </p:txBody>
      </p:sp>
      <p:grpSp>
        <p:nvGrpSpPr>
          <p:cNvPr name="Group 65" id="65"/>
          <p:cNvGrpSpPr/>
          <p:nvPr/>
        </p:nvGrpSpPr>
        <p:grpSpPr>
          <a:xfrm rot="0">
            <a:off x="851380" y="4014667"/>
            <a:ext cx="533472" cy="533472"/>
            <a:chOff x="0" y="0"/>
            <a:chExt cx="812800" cy="81280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38100" cap="sq">
              <a:solidFill>
                <a:srgbClr val="FFBC11"/>
              </a:solidFill>
              <a:prstDash val="solid"/>
              <a:miter/>
            </a:ln>
          </p:spPr>
        </p:sp>
        <p:sp>
          <p:nvSpPr>
            <p:cNvPr name="TextBox 67" id="67"/>
            <p:cNvSpPr txBox="true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grpSp>
        <p:nvGrpSpPr>
          <p:cNvPr name="Group 68" id="68"/>
          <p:cNvGrpSpPr/>
          <p:nvPr/>
        </p:nvGrpSpPr>
        <p:grpSpPr>
          <a:xfrm rot="0">
            <a:off x="3684639" y="4043278"/>
            <a:ext cx="533472" cy="533472"/>
            <a:chOff x="0" y="0"/>
            <a:chExt cx="812800" cy="81280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38100" cap="sq">
              <a:solidFill>
                <a:srgbClr val="FFBC11"/>
              </a:solidFill>
              <a:prstDash val="solid"/>
              <a:miter/>
            </a:ln>
          </p:spPr>
        </p:sp>
        <p:sp>
          <p:nvSpPr>
            <p:cNvPr name="TextBox 70" id="70"/>
            <p:cNvSpPr txBox="true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grpSp>
        <p:nvGrpSpPr>
          <p:cNvPr name="Group 71" id="71"/>
          <p:cNvGrpSpPr/>
          <p:nvPr/>
        </p:nvGrpSpPr>
        <p:grpSpPr>
          <a:xfrm rot="0">
            <a:off x="6489575" y="4024348"/>
            <a:ext cx="533472" cy="533472"/>
            <a:chOff x="0" y="0"/>
            <a:chExt cx="812800" cy="81280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38100" cap="sq">
              <a:solidFill>
                <a:srgbClr val="FFBC11"/>
              </a:solidFill>
              <a:prstDash val="solid"/>
              <a:miter/>
            </a:ln>
          </p:spPr>
        </p:sp>
        <p:sp>
          <p:nvSpPr>
            <p:cNvPr name="TextBox 73" id="73"/>
            <p:cNvSpPr txBox="true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grpSp>
        <p:nvGrpSpPr>
          <p:cNvPr name="Group 74" id="74"/>
          <p:cNvGrpSpPr/>
          <p:nvPr/>
        </p:nvGrpSpPr>
        <p:grpSpPr>
          <a:xfrm rot="0">
            <a:off x="9268877" y="4024348"/>
            <a:ext cx="533472" cy="533472"/>
            <a:chOff x="0" y="0"/>
            <a:chExt cx="812800" cy="812800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38100" cap="sq">
              <a:solidFill>
                <a:srgbClr val="FFBC11"/>
              </a:solidFill>
              <a:prstDash val="solid"/>
              <a:miter/>
            </a:ln>
          </p:spPr>
        </p:sp>
        <p:sp>
          <p:nvSpPr>
            <p:cNvPr name="TextBox 76" id="76"/>
            <p:cNvSpPr txBox="true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grpSp>
        <p:nvGrpSpPr>
          <p:cNvPr name="Group 77" id="77"/>
          <p:cNvGrpSpPr/>
          <p:nvPr/>
        </p:nvGrpSpPr>
        <p:grpSpPr>
          <a:xfrm rot="0">
            <a:off x="12088185" y="4024348"/>
            <a:ext cx="533472" cy="533472"/>
            <a:chOff x="0" y="0"/>
            <a:chExt cx="812800" cy="812800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38100" cap="sq">
              <a:solidFill>
                <a:srgbClr val="FFBC11"/>
              </a:solidFill>
              <a:prstDash val="solid"/>
              <a:miter/>
            </a:ln>
          </p:spPr>
        </p:sp>
        <p:sp>
          <p:nvSpPr>
            <p:cNvPr name="TextBox 79" id="79"/>
            <p:cNvSpPr txBox="true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grpSp>
        <p:nvGrpSpPr>
          <p:cNvPr name="Group 80" id="80"/>
          <p:cNvGrpSpPr/>
          <p:nvPr/>
        </p:nvGrpSpPr>
        <p:grpSpPr>
          <a:xfrm rot="0">
            <a:off x="14855747" y="4037918"/>
            <a:ext cx="533472" cy="533472"/>
            <a:chOff x="0" y="0"/>
            <a:chExt cx="812800" cy="812800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38100" cap="sq">
              <a:solidFill>
                <a:srgbClr val="FFBC11"/>
              </a:solidFill>
              <a:prstDash val="solid"/>
              <a:miter/>
            </a:ln>
          </p:spPr>
        </p:sp>
        <p:sp>
          <p:nvSpPr>
            <p:cNvPr name="TextBox 82" id="82"/>
            <p:cNvSpPr txBox="true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sp>
        <p:nvSpPr>
          <p:cNvPr name="AutoShape 83" id="83"/>
          <p:cNvSpPr/>
          <p:nvPr/>
        </p:nvSpPr>
        <p:spPr>
          <a:xfrm>
            <a:off x="3201006" y="4310014"/>
            <a:ext cx="386391" cy="0"/>
          </a:xfrm>
          <a:prstGeom prst="line">
            <a:avLst/>
          </a:prstGeom>
          <a:ln cap="rnd" w="19050">
            <a:solidFill>
              <a:srgbClr val="4A5A66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84" id="84"/>
          <p:cNvSpPr/>
          <p:nvPr/>
        </p:nvSpPr>
        <p:spPr>
          <a:xfrm>
            <a:off x="6041235" y="4310014"/>
            <a:ext cx="317876" cy="0"/>
          </a:xfrm>
          <a:prstGeom prst="line">
            <a:avLst/>
          </a:prstGeom>
          <a:ln cap="rnd" w="19050">
            <a:solidFill>
              <a:srgbClr val="4A5A66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85" id="85"/>
          <p:cNvSpPr/>
          <p:nvPr/>
        </p:nvSpPr>
        <p:spPr>
          <a:xfrm>
            <a:off x="8812949" y="4310014"/>
            <a:ext cx="335623" cy="0"/>
          </a:xfrm>
          <a:prstGeom prst="line">
            <a:avLst/>
          </a:prstGeom>
          <a:ln cap="rnd" w="19050">
            <a:solidFill>
              <a:srgbClr val="4A5A66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86" id="86"/>
          <p:cNvSpPr/>
          <p:nvPr/>
        </p:nvSpPr>
        <p:spPr>
          <a:xfrm flipV="true">
            <a:off x="11602410" y="4310014"/>
            <a:ext cx="415575" cy="0"/>
          </a:xfrm>
          <a:prstGeom prst="line">
            <a:avLst/>
          </a:prstGeom>
          <a:ln cap="rnd" w="19050">
            <a:solidFill>
              <a:srgbClr val="4A5A66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87" id="87"/>
          <p:cNvSpPr/>
          <p:nvPr/>
        </p:nvSpPr>
        <p:spPr>
          <a:xfrm>
            <a:off x="14471824" y="4310014"/>
            <a:ext cx="334970" cy="4323"/>
          </a:xfrm>
          <a:prstGeom prst="line">
            <a:avLst/>
          </a:prstGeom>
          <a:ln cap="rnd" w="19050">
            <a:solidFill>
              <a:srgbClr val="4A5A66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88" id="88"/>
          <p:cNvGrpSpPr/>
          <p:nvPr/>
        </p:nvGrpSpPr>
        <p:grpSpPr>
          <a:xfrm rot="0">
            <a:off x="1361855" y="6879975"/>
            <a:ext cx="3086100" cy="1836763"/>
            <a:chOff x="0" y="0"/>
            <a:chExt cx="812800" cy="483757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812800" cy="483757"/>
            </a:xfrm>
            <a:custGeom>
              <a:avLst/>
              <a:gdLst/>
              <a:ahLst/>
              <a:cxnLst/>
              <a:rect r="r" b="b" t="t" l="l"/>
              <a:pathLst>
                <a:path h="483757" w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355816"/>
                  </a:lnTo>
                  <a:cubicBezTo>
                    <a:pt x="812800" y="389748"/>
                    <a:pt x="799321" y="422290"/>
                    <a:pt x="775327" y="446284"/>
                  </a:cubicBezTo>
                  <a:cubicBezTo>
                    <a:pt x="751333" y="470277"/>
                    <a:pt x="718791" y="483757"/>
                    <a:pt x="684859" y="483757"/>
                  </a:cubicBezTo>
                  <a:lnTo>
                    <a:pt x="127941" y="483757"/>
                  </a:lnTo>
                  <a:cubicBezTo>
                    <a:pt x="94009" y="483757"/>
                    <a:pt x="61467" y="470277"/>
                    <a:pt x="37473" y="446284"/>
                  </a:cubicBezTo>
                  <a:cubicBezTo>
                    <a:pt x="13479" y="422290"/>
                    <a:pt x="0" y="389748"/>
                    <a:pt x="0" y="355816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F2FBEC"/>
            </a:solidFill>
          </p:spPr>
        </p:sp>
        <p:sp>
          <p:nvSpPr>
            <p:cNvPr name="TextBox 90" id="90"/>
            <p:cNvSpPr txBox="true"/>
            <p:nvPr/>
          </p:nvSpPr>
          <p:spPr>
            <a:xfrm>
              <a:off x="0" y="-9525"/>
              <a:ext cx="812800" cy="4932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grpSp>
        <p:nvGrpSpPr>
          <p:cNvPr name="Group 91" id="91"/>
          <p:cNvGrpSpPr/>
          <p:nvPr/>
        </p:nvGrpSpPr>
        <p:grpSpPr>
          <a:xfrm rot="0">
            <a:off x="12609050" y="6943831"/>
            <a:ext cx="3086100" cy="1836763"/>
            <a:chOff x="0" y="0"/>
            <a:chExt cx="812800" cy="483757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812800" cy="483757"/>
            </a:xfrm>
            <a:custGeom>
              <a:avLst/>
              <a:gdLst/>
              <a:ahLst/>
              <a:cxnLst/>
              <a:rect r="r" b="b" t="t" l="l"/>
              <a:pathLst>
                <a:path h="483757" w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355816"/>
                  </a:lnTo>
                  <a:cubicBezTo>
                    <a:pt x="812800" y="389748"/>
                    <a:pt x="799321" y="422290"/>
                    <a:pt x="775327" y="446284"/>
                  </a:cubicBezTo>
                  <a:cubicBezTo>
                    <a:pt x="751333" y="470277"/>
                    <a:pt x="718791" y="483757"/>
                    <a:pt x="684859" y="483757"/>
                  </a:cubicBezTo>
                  <a:lnTo>
                    <a:pt x="127941" y="483757"/>
                  </a:lnTo>
                  <a:cubicBezTo>
                    <a:pt x="94009" y="483757"/>
                    <a:pt x="61467" y="470277"/>
                    <a:pt x="37473" y="446284"/>
                  </a:cubicBezTo>
                  <a:cubicBezTo>
                    <a:pt x="13479" y="422290"/>
                    <a:pt x="0" y="389748"/>
                    <a:pt x="0" y="355816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F2FBEC"/>
            </a:solidFill>
          </p:spPr>
        </p:sp>
        <p:sp>
          <p:nvSpPr>
            <p:cNvPr name="TextBox 93" id="93"/>
            <p:cNvSpPr txBox="true"/>
            <p:nvPr/>
          </p:nvSpPr>
          <p:spPr>
            <a:xfrm>
              <a:off x="0" y="-9525"/>
              <a:ext cx="812800" cy="4932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grpSp>
        <p:nvGrpSpPr>
          <p:cNvPr name="Group 94" id="94"/>
          <p:cNvGrpSpPr/>
          <p:nvPr/>
        </p:nvGrpSpPr>
        <p:grpSpPr>
          <a:xfrm rot="0">
            <a:off x="5169859" y="6925023"/>
            <a:ext cx="3086100" cy="1836763"/>
            <a:chOff x="0" y="0"/>
            <a:chExt cx="812800" cy="483757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812800" cy="483757"/>
            </a:xfrm>
            <a:custGeom>
              <a:avLst/>
              <a:gdLst/>
              <a:ahLst/>
              <a:cxnLst/>
              <a:rect r="r" b="b" t="t" l="l"/>
              <a:pathLst>
                <a:path h="483757" w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355816"/>
                  </a:lnTo>
                  <a:cubicBezTo>
                    <a:pt x="812800" y="389748"/>
                    <a:pt x="799321" y="422290"/>
                    <a:pt x="775327" y="446284"/>
                  </a:cubicBezTo>
                  <a:cubicBezTo>
                    <a:pt x="751333" y="470277"/>
                    <a:pt x="718791" y="483757"/>
                    <a:pt x="684859" y="483757"/>
                  </a:cubicBezTo>
                  <a:lnTo>
                    <a:pt x="127941" y="483757"/>
                  </a:lnTo>
                  <a:cubicBezTo>
                    <a:pt x="94009" y="483757"/>
                    <a:pt x="61467" y="470277"/>
                    <a:pt x="37473" y="446284"/>
                  </a:cubicBezTo>
                  <a:cubicBezTo>
                    <a:pt x="13479" y="422290"/>
                    <a:pt x="0" y="389748"/>
                    <a:pt x="0" y="355816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F2FBEC"/>
            </a:solidFill>
          </p:spPr>
        </p:sp>
        <p:sp>
          <p:nvSpPr>
            <p:cNvPr name="TextBox 96" id="96"/>
            <p:cNvSpPr txBox="true"/>
            <p:nvPr/>
          </p:nvSpPr>
          <p:spPr>
            <a:xfrm>
              <a:off x="0" y="-9525"/>
              <a:ext cx="812800" cy="4932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grpSp>
        <p:nvGrpSpPr>
          <p:cNvPr name="Group 97" id="97"/>
          <p:cNvGrpSpPr/>
          <p:nvPr/>
        </p:nvGrpSpPr>
        <p:grpSpPr>
          <a:xfrm rot="0">
            <a:off x="8910923" y="6879975"/>
            <a:ext cx="3086100" cy="1836763"/>
            <a:chOff x="0" y="0"/>
            <a:chExt cx="812800" cy="483757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812800" cy="483757"/>
            </a:xfrm>
            <a:custGeom>
              <a:avLst/>
              <a:gdLst/>
              <a:ahLst/>
              <a:cxnLst/>
              <a:rect r="r" b="b" t="t" l="l"/>
              <a:pathLst>
                <a:path h="483757" w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355816"/>
                  </a:lnTo>
                  <a:cubicBezTo>
                    <a:pt x="812800" y="389748"/>
                    <a:pt x="799321" y="422290"/>
                    <a:pt x="775327" y="446284"/>
                  </a:cubicBezTo>
                  <a:cubicBezTo>
                    <a:pt x="751333" y="470277"/>
                    <a:pt x="718791" y="483757"/>
                    <a:pt x="684859" y="483757"/>
                  </a:cubicBezTo>
                  <a:lnTo>
                    <a:pt x="127941" y="483757"/>
                  </a:lnTo>
                  <a:cubicBezTo>
                    <a:pt x="94009" y="483757"/>
                    <a:pt x="61467" y="470277"/>
                    <a:pt x="37473" y="446284"/>
                  </a:cubicBezTo>
                  <a:cubicBezTo>
                    <a:pt x="13479" y="422290"/>
                    <a:pt x="0" y="389748"/>
                    <a:pt x="0" y="355816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F2FBEC"/>
            </a:solidFill>
          </p:spPr>
        </p:sp>
        <p:sp>
          <p:nvSpPr>
            <p:cNvPr name="TextBox 99" id="99"/>
            <p:cNvSpPr txBox="true"/>
            <p:nvPr/>
          </p:nvSpPr>
          <p:spPr>
            <a:xfrm>
              <a:off x="0" y="-9525"/>
              <a:ext cx="812800" cy="4932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sp>
        <p:nvSpPr>
          <p:cNvPr name="Freeform 100" id="100"/>
          <p:cNvSpPr/>
          <p:nvPr/>
        </p:nvSpPr>
        <p:spPr>
          <a:xfrm flipH="false" flipV="false" rot="0">
            <a:off x="2127286" y="6896859"/>
            <a:ext cx="1830968" cy="1830968"/>
          </a:xfrm>
          <a:custGeom>
            <a:avLst/>
            <a:gdLst/>
            <a:ahLst/>
            <a:cxnLst/>
            <a:rect r="r" b="b" t="t" l="l"/>
            <a:pathLst>
              <a:path h="1830968" w="1830968">
                <a:moveTo>
                  <a:pt x="0" y="0"/>
                </a:moveTo>
                <a:lnTo>
                  <a:pt x="1830967" y="0"/>
                </a:lnTo>
                <a:lnTo>
                  <a:pt x="1830967" y="1830968"/>
                </a:lnTo>
                <a:lnTo>
                  <a:pt x="0" y="183096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30000"/>
            </a:blip>
            <a:stretch>
              <a:fillRect l="0" t="0" r="0" b="0"/>
            </a:stretch>
          </a:blipFill>
        </p:spPr>
      </p:sp>
      <p:sp>
        <p:nvSpPr>
          <p:cNvPr name="Freeform 101" id="101"/>
          <p:cNvSpPr/>
          <p:nvPr/>
        </p:nvSpPr>
        <p:spPr>
          <a:xfrm flipH="false" flipV="false" rot="0">
            <a:off x="6127589" y="7078829"/>
            <a:ext cx="1557124" cy="1557124"/>
          </a:xfrm>
          <a:custGeom>
            <a:avLst/>
            <a:gdLst/>
            <a:ahLst/>
            <a:cxnLst/>
            <a:rect r="r" b="b" t="t" l="l"/>
            <a:pathLst>
              <a:path h="1557124" w="1557124">
                <a:moveTo>
                  <a:pt x="0" y="0"/>
                </a:moveTo>
                <a:lnTo>
                  <a:pt x="1557124" y="0"/>
                </a:lnTo>
                <a:lnTo>
                  <a:pt x="1557124" y="1557124"/>
                </a:lnTo>
                <a:lnTo>
                  <a:pt x="0" y="155712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30000"/>
            </a:blip>
            <a:stretch>
              <a:fillRect l="0" t="0" r="0" b="0"/>
            </a:stretch>
          </a:blipFill>
        </p:spPr>
      </p:sp>
      <p:sp>
        <p:nvSpPr>
          <p:cNvPr name="Freeform 102" id="102"/>
          <p:cNvSpPr/>
          <p:nvPr/>
        </p:nvSpPr>
        <p:spPr>
          <a:xfrm flipH="false" flipV="false" rot="0">
            <a:off x="9566228" y="7002639"/>
            <a:ext cx="1770236" cy="1770236"/>
          </a:xfrm>
          <a:custGeom>
            <a:avLst/>
            <a:gdLst/>
            <a:ahLst/>
            <a:cxnLst/>
            <a:rect r="r" b="b" t="t" l="l"/>
            <a:pathLst>
              <a:path h="1770236" w="1770236">
                <a:moveTo>
                  <a:pt x="0" y="0"/>
                </a:moveTo>
                <a:lnTo>
                  <a:pt x="1770236" y="0"/>
                </a:lnTo>
                <a:lnTo>
                  <a:pt x="1770236" y="1770236"/>
                </a:lnTo>
                <a:lnTo>
                  <a:pt x="0" y="1770236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alphaModFix amt="30000"/>
            </a:blip>
            <a:stretch>
              <a:fillRect l="0" t="0" r="0" b="0"/>
            </a:stretch>
          </a:blipFill>
        </p:spPr>
      </p:sp>
      <p:sp>
        <p:nvSpPr>
          <p:cNvPr name="Freeform 103" id="103"/>
          <p:cNvSpPr/>
          <p:nvPr/>
        </p:nvSpPr>
        <p:spPr>
          <a:xfrm flipH="false" flipV="false" rot="0">
            <a:off x="13459518" y="6937125"/>
            <a:ext cx="1689543" cy="1689543"/>
          </a:xfrm>
          <a:custGeom>
            <a:avLst/>
            <a:gdLst/>
            <a:ahLst/>
            <a:cxnLst/>
            <a:rect r="r" b="b" t="t" l="l"/>
            <a:pathLst>
              <a:path h="1689543" w="1689543">
                <a:moveTo>
                  <a:pt x="0" y="0"/>
                </a:moveTo>
                <a:lnTo>
                  <a:pt x="1689543" y="0"/>
                </a:lnTo>
                <a:lnTo>
                  <a:pt x="1689543" y="1689542"/>
                </a:lnTo>
                <a:lnTo>
                  <a:pt x="0" y="168954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30000"/>
            </a:blip>
            <a:stretch>
              <a:fillRect l="0" t="0" r="0" b="0"/>
            </a:stretch>
          </a:blipFill>
        </p:spPr>
      </p:sp>
      <p:sp>
        <p:nvSpPr>
          <p:cNvPr name="TextBox 104" id="104"/>
          <p:cNvSpPr txBox="true"/>
          <p:nvPr/>
        </p:nvSpPr>
        <p:spPr>
          <a:xfrm rot="0">
            <a:off x="1274497" y="2001311"/>
            <a:ext cx="15446398" cy="13954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812"/>
              </a:lnSpc>
            </a:pPr>
            <a:r>
              <a:rPr lang="en-US" sz="1875" b="true">
                <a:solidFill>
                  <a:srgbClr val="0C597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Kinesio-style remote screening pipeline:</a:t>
            </a:r>
            <a:r>
              <a:rPr lang="en-US" sz="1875" b="true">
                <a:solidFill>
                  <a:srgbClr val="0B4F6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1875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A MATLAB + Python pipeline that </a:t>
            </a:r>
            <a:r>
              <a:rPr lang="en-US" sz="1875" b="true">
                <a:solidFill>
                  <a:srgbClr val="F16315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grades diabetic retinopathy severity from a fundus photo</a:t>
            </a:r>
            <a:r>
              <a:rPr lang="en-US" sz="1875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, </a:t>
            </a:r>
            <a:r>
              <a:rPr lang="en-US" sz="1875" b="true">
                <a:solidFill>
                  <a:srgbClr val="F16315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explains its reasoning </a:t>
            </a:r>
            <a:r>
              <a:rPr lang="en-US" sz="1875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with lesion-level evidence and Grad-CAM, r</a:t>
            </a:r>
            <a:r>
              <a:rPr lang="en-US" sz="1875" b="true">
                <a:solidFill>
                  <a:srgbClr val="F16315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outes uncertain cases to a human</a:t>
            </a:r>
            <a:r>
              <a:rPr lang="en-US" sz="1875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, and </a:t>
            </a:r>
            <a:r>
              <a:rPr lang="en-US" sz="1875" b="true">
                <a:solidFill>
                  <a:srgbClr val="F16315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models district-level rollout capacity</a:t>
            </a:r>
            <a:r>
              <a:rPr lang="en-US" sz="1875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 — so a single ophthalmologist can safely screen 100,000+ patients/year through ASHA workers and PHCs.</a:t>
            </a:r>
          </a:p>
        </p:txBody>
      </p:sp>
      <p:sp>
        <p:nvSpPr>
          <p:cNvPr name="TextBox 105" id="105"/>
          <p:cNvSpPr txBox="true"/>
          <p:nvPr/>
        </p:nvSpPr>
        <p:spPr>
          <a:xfrm rot="0">
            <a:off x="3996083" y="1168784"/>
            <a:ext cx="9703594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89"/>
              </a:lnSpc>
              <a:spcBef>
                <a:spcPct val="0"/>
              </a:spcBef>
            </a:pPr>
            <a:r>
              <a:rPr lang="en-US" b="true" sz="2324">
                <a:solidFill>
                  <a:srgbClr val="C00000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Explainable AI Diabetic Retinopathy Screening for Rural India</a:t>
            </a:r>
          </a:p>
        </p:txBody>
      </p:sp>
      <p:sp>
        <p:nvSpPr>
          <p:cNvPr name="TextBox 106" id="106"/>
          <p:cNvSpPr txBox="true"/>
          <p:nvPr/>
        </p:nvSpPr>
        <p:spPr>
          <a:xfrm rot="0">
            <a:off x="968659" y="5222424"/>
            <a:ext cx="2010855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9"/>
              </a:lnSpc>
              <a:spcBef>
                <a:spcPct val="0"/>
              </a:spcBef>
            </a:pPr>
            <a:r>
              <a:rPr lang="en-US" b="true" sz="1425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Rejects blurry/dark photos with</a:t>
            </a:r>
          </a:p>
          <a:p>
            <a:pPr algn="ctr">
              <a:lnSpc>
                <a:spcPts val="1709"/>
              </a:lnSpc>
              <a:spcBef>
                <a:spcPct val="0"/>
              </a:spcBef>
            </a:pPr>
            <a:r>
              <a:rPr lang="en-US" b="true" sz="1425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actionable recapture feedback</a:t>
            </a:r>
          </a:p>
        </p:txBody>
      </p:sp>
      <p:sp>
        <p:nvSpPr>
          <p:cNvPr name="TextBox 107" id="107"/>
          <p:cNvSpPr txBox="true"/>
          <p:nvPr/>
        </p:nvSpPr>
        <p:spPr>
          <a:xfrm rot="0">
            <a:off x="3319978" y="5327199"/>
            <a:ext cx="2854892" cy="638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9"/>
              </a:lnSpc>
              <a:spcBef>
                <a:spcPct val="0"/>
              </a:spcBef>
            </a:pPr>
            <a:r>
              <a:rPr lang="en-US" b="true" sz="1425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CLAHE + illumination normalization</a:t>
            </a:r>
          </a:p>
          <a:p>
            <a:pPr algn="ctr">
              <a:lnSpc>
                <a:spcPts val="1709"/>
              </a:lnSpc>
              <a:spcBef>
                <a:spcPct val="0"/>
              </a:spcBef>
            </a:pPr>
            <a:r>
              <a:rPr lang="en-US" b="true" sz="1425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for borderline images</a:t>
            </a:r>
          </a:p>
        </p:txBody>
      </p:sp>
      <p:sp>
        <p:nvSpPr>
          <p:cNvPr name="TextBox 108" id="108"/>
          <p:cNvSpPr txBox="true"/>
          <p:nvPr/>
        </p:nvSpPr>
        <p:spPr>
          <a:xfrm rot="0">
            <a:off x="6348901" y="5222424"/>
            <a:ext cx="2426813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9"/>
              </a:lnSpc>
            </a:pPr>
            <a:r>
              <a:rPr lang="en-US" sz="1425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Vessels, microaneurysms, exudates,</a:t>
            </a:r>
          </a:p>
          <a:p>
            <a:pPr algn="ctr">
              <a:lnSpc>
                <a:spcPts val="1709"/>
              </a:lnSpc>
            </a:pPr>
            <a:r>
              <a:rPr lang="en-US" sz="1425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haemorrhages, neovascularisation</a:t>
            </a:r>
          </a:p>
          <a:p>
            <a:pPr algn="ctr">
              <a:lnSpc>
                <a:spcPts val="1709"/>
              </a:lnSpc>
              <a:spcBef>
                <a:spcPct val="0"/>
              </a:spcBef>
            </a:pPr>
          </a:p>
        </p:txBody>
      </p:sp>
      <p:sp>
        <p:nvSpPr>
          <p:cNvPr name="TextBox 109" id="109"/>
          <p:cNvSpPr txBox="true"/>
          <p:nvPr/>
        </p:nvSpPr>
        <p:spPr>
          <a:xfrm rot="0">
            <a:off x="9101128" y="5222424"/>
            <a:ext cx="2475805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9"/>
              </a:lnSpc>
            </a:pPr>
            <a:r>
              <a:rPr lang="en-US" sz="1425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Rule-based (4-2-1) + trained model</a:t>
            </a:r>
          </a:p>
          <a:p>
            <a:pPr algn="ctr">
              <a:lnSpc>
                <a:spcPts val="1709"/>
              </a:lnSpc>
            </a:pPr>
            <a:r>
              <a:rPr lang="en-US" sz="1425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cross-checked, levels 0–4</a:t>
            </a:r>
          </a:p>
          <a:p>
            <a:pPr algn="ctr">
              <a:lnSpc>
                <a:spcPts val="1709"/>
              </a:lnSpc>
              <a:spcBef>
                <a:spcPct val="0"/>
              </a:spcBef>
            </a:pPr>
          </a:p>
        </p:txBody>
      </p:sp>
      <p:sp>
        <p:nvSpPr>
          <p:cNvPr name="TextBox 110" id="110"/>
          <p:cNvSpPr txBox="true"/>
          <p:nvPr/>
        </p:nvSpPr>
        <p:spPr>
          <a:xfrm rot="0">
            <a:off x="11888160" y="5222424"/>
            <a:ext cx="2637289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9"/>
              </a:lnSpc>
            </a:pPr>
            <a:r>
              <a:rPr lang="en-US" sz="1425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Grad-CAM evidence; calibrated</a:t>
            </a:r>
          </a:p>
          <a:p>
            <a:pPr algn="ctr">
              <a:lnSpc>
                <a:spcPts val="1709"/>
              </a:lnSpc>
            </a:pPr>
            <a:r>
              <a:rPr lang="en-US" sz="1425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confidence gates human review</a:t>
            </a:r>
          </a:p>
          <a:p>
            <a:pPr algn="ctr">
              <a:lnSpc>
                <a:spcPts val="1709"/>
              </a:lnSpc>
              <a:spcBef>
                <a:spcPct val="0"/>
              </a:spcBef>
            </a:pPr>
          </a:p>
        </p:txBody>
      </p:sp>
      <p:sp>
        <p:nvSpPr>
          <p:cNvPr name="TextBox 111" id="111"/>
          <p:cNvSpPr txBox="true"/>
          <p:nvPr/>
        </p:nvSpPr>
        <p:spPr>
          <a:xfrm rot="0">
            <a:off x="14806794" y="5222424"/>
            <a:ext cx="2520189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9"/>
              </a:lnSpc>
            </a:pPr>
            <a:r>
              <a:rPr lang="en-US" sz="1425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Annotated PDF + native-language</a:t>
            </a:r>
          </a:p>
          <a:p>
            <a:pPr algn="ctr">
              <a:lnSpc>
                <a:spcPts val="1709"/>
              </a:lnSpc>
            </a:pPr>
            <a:r>
              <a:rPr lang="en-US" sz="1425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audio for ASHA workers</a:t>
            </a:r>
          </a:p>
          <a:p>
            <a:pPr algn="ctr">
              <a:lnSpc>
                <a:spcPts val="1709"/>
              </a:lnSpc>
              <a:spcBef>
                <a:spcPct val="0"/>
              </a:spcBef>
            </a:pPr>
          </a:p>
        </p:txBody>
      </p:sp>
      <p:sp>
        <p:nvSpPr>
          <p:cNvPr name="TextBox 112" id="112"/>
          <p:cNvSpPr txBox="true"/>
          <p:nvPr/>
        </p:nvSpPr>
        <p:spPr>
          <a:xfrm rot="0">
            <a:off x="1468668" y="3838086"/>
            <a:ext cx="1631682" cy="714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49"/>
              </a:lnSpc>
            </a:pPr>
          </a:p>
          <a:p>
            <a:pPr algn="r">
              <a:lnSpc>
                <a:spcPts val="1949"/>
              </a:lnSpc>
              <a:spcBef>
                <a:spcPct val="0"/>
              </a:spcBef>
            </a:pPr>
            <a:r>
              <a:rPr lang="en-US" sz="1624">
                <a:solidFill>
                  <a:srgbClr val="FFFFFF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Image Quality Gate</a:t>
            </a:r>
          </a:p>
        </p:txBody>
      </p:sp>
      <p:sp>
        <p:nvSpPr>
          <p:cNvPr name="TextBox 113" id="113"/>
          <p:cNvSpPr txBox="true"/>
          <p:nvPr/>
        </p:nvSpPr>
        <p:spPr>
          <a:xfrm rot="0">
            <a:off x="1525280" y="7225429"/>
            <a:ext cx="3034978" cy="1066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000000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Dual-path grading</a:t>
            </a:r>
          </a:p>
          <a:p>
            <a:pPr algn="ctr">
              <a:lnSpc>
                <a:spcPts val="216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Rule-based ICDR logic cross-checks the trained model.</a:t>
            </a:r>
          </a:p>
        </p:txBody>
      </p:sp>
      <p:sp>
        <p:nvSpPr>
          <p:cNvPr name="TextBox 114" id="114"/>
          <p:cNvSpPr txBox="true"/>
          <p:nvPr/>
        </p:nvSpPr>
        <p:spPr>
          <a:xfrm rot="0">
            <a:off x="5266345" y="7172675"/>
            <a:ext cx="3034978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000000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Human-in-the-loop safety</a:t>
            </a:r>
          </a:p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Calibrated confidence:  gates referral to an ophthalmologist.</a:t>
            </a:r>
          </a:p>
          <a:p>
            <a:pPr algn="ctr">
              <a:lnSpc>
                <a:spcPts val="2160"/>
              </a:lnSpc>
              <a:spcBef>
                <a:spcPct val="0"/>
              </a:spcBef>
            </a:pPr>
          </a:p>
        </p:txBody>
      </p:sp>
      <p:sp>
        <p:nvSpPr>
          <p:cNvPr name="TextBox 115" id="115"/>
          <p:cNvSpPr txBox="true"/>
          <p:nvPr/>
        </p:nvSpPr>
        <p:spPr>
          <a:xfrm rot="0">
            <a:off x="8962045" y="7064968"/>
            <a:ext cx="3034978" cy="1866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000000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Validated cross-camera</a:t>
            </a:r>
          </a:p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000000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Ben Graham normalisation and multi-source training,</a:t>
            </a:r>
            <a:r>
              <a:rPr lang="en-US" sz="180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 tested on an untouched external benchmark.</a:t>
            </a:r>
          </a:p>
          <a:p>
            <a:pPr algn="ctr">
              <a:lnSpc>
                <a:spcPts val="2160"/>
              </a:lnSpc>
              <a:spcBef>
                <a:spcPct val="0"/>
              </a:spcBef>
            </a:pPr>
          </a:p>
        </p:txBody>
      </p:sp>
      <p:sp>
        <p:nvSpPr>
          <p:cNvPr name="TextBox 116" id="116"/>
          <p:cNvSpPr txBox="true"/>
          <p:nvPr/>
        </p:nvSpPr>
        <p:spPr>
          <a:xfrm rot="0">
            <a:off x="12742400" y="6999454"/>
            <a:ext cx="3034978" cy="1866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000000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Native-language voice output</a:t>
            </a:r>
          </a:p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Diagnosis and care instructions </a:t>
            </a:r>
            <a:r>
              <a:rPr lang="en-US" sz="1800" b="true">
                <a:solidFill>
                  <a:srgbClr val="000000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read aloud in the patient's language</a:t>
            </a:r>
            <a:r>
              <a:rPr lang="en-US" sz="180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 for ASHA-led delivery.</a:t>
            </a:r>
          </a:p>
          <a:p>
            <a:pPr algn="ctr">
              <a:lnSpc>
                <a:spcPts val="2160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4856789" y="0"/>
            <a:ext cx="7980062" cy="1714500"/>
            <a:chOff x="0" y="0"/>
            <a:chExt cx="10640083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640082" cy="2286000"/>
            </a:xfrm>
            <a:custGeom>
              <a:avLst/>
              <a:gdLst/>
              <a:ahLst/>
              <a:cxnLst/>
              <a:rect r="r" b="b" t="t" l="l"/>
              <a:pathLst>
                <a:path h="2286000" w="10640082">
                  <a:moveTo>
                    <a:pt x="0" y="0"/>
                  </a:moveTo>
                  <a:lnTo>
                    <a:pt x="10640082" y="0"/>
                  </a:lnTo>
                  <a:lnTo>
                    <a:pt x="10640082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-106254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10640083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920"/>
                </a:lnSpc>
              </a:pPr>
              <a:r>
                <a:rPr lang="en-US" sz="4100" b="true">
                  <a:solidFill>
                    <a:srgbClr val="000000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TECHNICAL APPROACH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3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972300" y="9534525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Template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86690" y="186690"/>
            <a:ext cx="1889760" cy="861060"/>
            <a:chOff x="0" y="0"/>
            <a:chExt cx="2519680" cy="1148080"/>
          </a:xfrm>
        </p:grpSpPr>
        <p:sp>
          <p:nvSpPr>
            <p:cNvPr name="Freeform 14" id="14" descr="Your startup LOGO"/>
            <p:cNvSpPr/>
            <p:nvPr/>
          </p:nvSpPr>
          <p:spPr>
            <a:xfrm flipH="false" flipV="false" rot="0">
              <a:off x="0" y="0"/>
              <a:ext cx="2519680" cy="1148080"/>
            </a:xfrm>
            <a:custGeom>
              <a:avLst/>
              <a:gdLst/>
              <a:ahLst/>
              <a:cxnLst/>
              <a:rect r="r" b="b" t="t" l="l"/>
              <a:pathLst>
                <a:path h="1148080" w="2519680">
                  <a:moveTo>
                    <a:pt x="0" y="574040"/>
                  </a:moveTo>
                  <a:cubicBezTo>
                    <a:pt x="0" y="257048"/>
                    <a:pt x="564007" y="0"/>
                    <a:pt x="1259840" y="0"/>
                  </a:cubicBezTo>
                  <a:cubicBezTo>
                    <a:pt x="1955673" y="0"/>
                    <a:pt x="2519680" y="257048"/>
                    <a:pt x="2519680" y="574040"/>
                  </a:cubicBezTo>
                  <a:cubicBezTo>
                    <a:pt x="2519680" y="891032"/>
                    <a:pt x="1955673" y="1148080"/>
                    <a:pt x="1259840" y="1148080"/>
                  </a:cubicBezTo>
                  <a:cubicBezTo>
                    <a:pt x="564007" y="1148080"/>
                    <a:pt x="0" y="891032"/>
                    <a:pt x="0" y="57404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0"/>
              <a:ext cx="2519680" cy="114808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08384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Veyronix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4762045" y="85649"/>
            <a:ext cx="3313681" cy="1684306"/>
            <a:chOff x="0" y="0"/>
            <a:chExt cx="4418241" cy="2245741"/>
          </a:xfrm>
        </p:grpSpPr>
        <p:sp>
          <p:nvSpPr>
            <p:cNvPr name="Freeform 17" id="17" descr="https://www.sih.gov.in/img1/SIH-Logo.png"/>
            <p:cNvSpPr/>
            <p:nvPr/>
          </p:nvSpPr>
          <p:spPr>
            <a:xfrm flipH="false" flipV="false" rot="0">
              <a:off x="0" y="0"/>
              <a:ext cx="4418203" cy="2245741"/>
            </a:xfrm>
            <a:custGeom>
              <a:avLst/>
              <a:gdLst/>
              <a:ahLst/>
              <a:cxnLst/>
              <a:rect r="r" b="b" t="t" l="l"/>
              <a:pathLst>
                <a:path h="2245741" w="4418203">
                  <a:moveTo>
                    <a:pt x="0" y="0"/>
                  </a:moveTo>
                  <a:lnTo>
                    <a:pt x="4418203" y="0"/>
                  </a:lnTo>
                  <a:lnTo>
                    <a:pt x="4418203" y="2245741"/>
                  </a:lnTo>
                  <a:lnTo>
                    <a:pt x="0" y="22457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260164" y="2160664"/>
            <a:ext cx="4650379" cy="692671"/>
            <a:chOff x="0" y="0"/>
            <a:chExt cx="1303648" cy="194177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303648" cy="194177"/>
            </a:xfrm>
            <a:custGeom>
              <a:avLst/>
              <a:gdLst/>
              <a:ahLst/>
              <a:cxnLst/>
              <a:rect r="r" b="b" t="t" l="l"/>
              <a:pathLst>
                <a:path h="194177" w="1303648">
                  <a:moveTo>
                    <a:pt x="97089" y="0"/>
                  </a:moveTo>
                  <a:lnTo>
                    <a:pt x="1206559" y="0"/>
                  </a:lnTo>
                  <a:cubicBezTo>
                    <a:pt x="1260180" y="0"/>
                    <a:pt x="1303648" y="43468"/>
                    <a:pt x="1303648" y="97089"/>
                  </a:cubicBezTo>
                  <a:lnTo>
                    <a:pt x="1303648" y="97089"/>
                  </a:lnTo>
                  <a:cubicBezTo>
                    <a:pt x="1303648" y="150709"/>
                    <a:pt x="1260180" y="194177"/>
                    <a:pt x="1206559" y="194177"/>
                  </a:cubicBezTo>
                  <a:lnTo>
                    <a:pt x="97089" y="194177"/>
                  </a:lnTo>
                  <a:cubicBezTo>
                    <a:pt x="43468" y="194177"/>
                    <a:pt x="0" y="150709"/>
                    <a:pt x="0" y="97089"/>
                  </a:cubicBezTo>
                  <a:lnTo>
                    <a:pt x="0" y="97089"/>
                  </a:lnTo>
                  <a:cubicBezTo>
                    <a:pt x="0" y="43468"/>
                    <a:pt x="43468" y="0"/>
                    <a:pt x="97089" y="0"/>
                  </a:cubicBezTo>
                  <a:close/>
                </a:path>
              </a:pathLst>
            </a:custGeom>
            <a:solidFill>
              <a:srgbClr val="0B4F6C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9525"/>
              <a:ext cx="1303648" cy="20370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260164" y="4825645"/>
            <a:ext cx="4568507" cy="680476"/>
            <a:chOff x="0" y="0"/>
            <a:chExt cx="1303648" cy="194177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303648" cy="194177"/>
            </a:xfrm>
            <a:custGeom>
              <a:avLst/>
              <a:gdLst/>
              <a:ahLst/>
              <a:cxnLst/>
              <a:rect r="r" b="b" t="t" l="l"/>
              <a:pathLst>
                <a:path h="194177" w="1303648">
                  <a:moveTo>
                    <a:pt x="97089" y="0"/>
                  </a:moveTo>
                  <a:lnTo>
                    <a:pt x="1206559" y="0"/>
                  </a:lnTo>
                  <a:cubicBezTo>
                    <a:pt x="1260180" y="0"/>
                    <a:pt x="1303648" y="43468"/>
                    <a:pt x="1303648" y="97089"/>
                  </a:cubicBezTo>
                  <a:lnTo>
                    <a:pt x="1303648" y="97089"/>
                  </a:lnTo>
                  <a:cubicBezTo>
                    <a:pt x="1303648" y="150709"/>
                    <a:pt x="1260180" y="194177"/>
                    <a:pt x="1206559" y="194177"/>
                  </a:cubicBezTo>
                  <a:lnTo>
                    <a:pt x="97089" y="194177"/>
                  </a:lnTo>
                  <a:cubicBezTo>
                    <a:pt x="43468" y="194177"/>
                    <a:pt x="0" y="150709"/>
                    <a:pt x="0" y="97089"/>
                  </a:cubicBezTo>
                  <a:lnTo>
                    <a:pt x="0" y="97089"/>
                  </a:lnTo>
                  <a:cubicBezTo>
                    <a:pt x="0" y="43468"/>
                    <a:pt x="43468" y="0"/>
                    <a:pt x="97089" y="0"/>
                  </a:cubicBezTo>
                  <a:close/>
                </a:path>
              </a:pathLst>
            </a:custGeom>
            <a:solidFill>
              <a:srgbClr val="0B4F6C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9525"/>
              <a:ext cx="1303648" cy="20370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260164" y="6918008"/>
            <a:ext cx="4604855" cy="685890"/>
            <a:chOff x="0" y="0"/>
            <a:chExt cx="1303648" cy="194177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303648" cy="194177"/>
            </a:xfrm>
            <a:custGeom>
              <a:avLst/>
              <a:gdLst/>
              <a:ahLst/>
              <a:cxnLst/>
              <a:rect r="r" b="b" t="t" l="l"/>
              <a:pathLst>
                <a:path h="194177" w="1303648">
                  <a:moveTo>
                    <a:pt x="97089" y="0"/>
                  </a:moveTo>
                  <a:lnTo>
                    <a:pt x="1206559" y="0"/>
                  </a:lnTo>
                  <a:cubicBezTo>
                    <a:pt x="1260180" y="0"/>
                    <a:pt x="1303648" y="43468"/>
                    <a:pt x="1303648" y="97089"/>
                  </a:cubicBezTo>
                  <a:lnTo>
                    <a:pt x="1303648" y="97089"/>
                  </a:lnTo>
                  <a:cubicBezTo>
                    <a:pt x="1303648" y="150709"/>
                    <a:pt x="1260180" y="194177"/>
                    <a:pt x="1206559" y="194177"/>
                  </a:cubicBezTo>
                  <a:lnTo>
                    <a:pt x="97089" y="194177"/>
                  </a:lnTo>
                  <a:cubicBezTo>
                    <a:pt x="43468" y="194177"/>
                    <a:pt x="0" y="150709"/>
                    <a:pt x="0" y="97089"/>
                  </a:cubicBezTo>
                  <a:lnTo>
                    <a:pt x="0" y="97089"/>
                  </a:lnTo>
                  <a:cubicBezTo>
                    <a:pt x="0" y="43468"/>
                    <a:pt x="43468" y="0"/>
                    <a:pt x="97089" y="0"/>
                  </a:cubicBezTo>
                  <a:close/>
                </a:path>
              </a:pathLst>
            </a:custGeom>
            <a:solidFill>
              <a:srgbClr val="0B4F6C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9525"/>
              <a:ext cx="1303648" cy="20370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7895373" y="2510722"/>
            <a:ext cx="4622672" cy="1972847"/>
            <a:chOff x="0" y="0"/>
            <a:chExt cx="1202812" cy="513332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202812" cy="513332"/>
            </a:xfrm>
            <a:custGeom>
              <a:avLst/>
              <a:gdLst/>
              <a:ahLst/>
              <a:cxnLst/>
              <a:rect r="r" b="b" t="t" l="l"/>
              <a:pathLst>
                <a:path h="513332" w="1202812">
                  <a:moveTo>
                    <a:pt x="112210" y="0"/>
                  </a:moveTo>
                  <a:lnTo>
                    <a:pt x="1090602" y="0"/>
                  </a:lnTo>
                  <a:cubicBezTo>
                    <a:pt x="1120362" y="0"/>
                    <a:pt x="1148903" y="11822"/>
                    <a:pt x="1169946" y="32865"/>
                  </a:cubicBezTo>
                  <a:cubicBezTo>
                    <a:pt x="1190990" y="53909"/>
                    <a:pt x="1202812" y="82450"/>
                    <a:pt x="1202812" y="112210"/>
                  </a:cubicBezTo>
                  <a:lnTo>
                    <a:pt x="1202812" y="401122"/>
                  </a:lnTo>
                  <a:cubicBezTo>
                    <a:pt x="1202812" y="463094"/>
                    <a:pt x="1152574" y="513332"/>
                    <a:pt x="1090602" y="513332"/>
                  </a:cubicBezTo>
                  <a:lnTo>
                    <a:pt x="112210" y="513332"/>
                  </a:lnTo>
                  <a:cubicBezTo>
                    <a:pt x="50238" y="513332"/>
                    <a:pt x="0" y="463094"/>
                    <a:pt x="0" y="401122"/>
                  </a:cubicBezTo>
                  <a:lnTo>
                    <a:pt x="0" y="112210"/>
                  </a:lnTo>
                  <a:cubicBezTo>
                    <a:pt x="0" y="50238"/>
                    <a:pt x="50238" y="0"/>
                    <a:pt x="112210" y="0"/>
                  </a:cubicBezTo>
                  <a:close/>
                </a:path>
              </a:pathLst>
            </a:custGeom>
            <a:solidFill>
              <a:srgbClr val="F2FBEC"/>
            </a:solidFill>
            <a:ln w="19050" cap="rnd">
              <a:solidFill>
                <a:srgbClr val="287041"/>
              </a:solidFill>
              <a:prstDash val="solid"/>
              <a:round/>
            </a:ln>
          </p:spPr>
        </p:sp>
        <p:sp>
          <p:nvSpPr>
            <p:cNvPr name="TextBox 29" id="29"/>
            <p:cNvSpPr txBox="true"/>
            <p:nvPr/>
          </p:nvSpPr>
          <p:spPr>
            <a:xfrm>
              <a:off x="0" y="-9525"/>
              <a:ext cx="1202812" cy="5228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7895373" y="2202004"/>
            <a:ext cx="4622672" cy="659281"/>
            <a:chOff x="0" y="0"/>
            <a:chExt cx="1202812" cy="17154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202812" cy="171544"/>
            </a:xfrm>
            <a:custGeom>
              <a:avLst/>
              <a:gdLst/>
              <a:ahLst/>
              <a:cxnLst/>
              <a:rect r="r" b="b" t="t" l="l"/>
              <a:pathLst>
                <a:path h="171544" w="1202812">
                  <a:moveTo>
                    <a:pt x="85772" y="0"/>
                  </a:moveTo>
                  <a:lnTo>
                    <a:pt x="1117040" y="0"/>
                  </a:lnTo>
                  <a:cubicBezTo>
                    <a:pt x="1139788" y="0"/>
                    <a:pt x="1161604" y="9037"/>
                    <a:pt x="1177690" y="25122"/>
                  </a:cubicBezTo>
                  <a:cubicBezTo>
                    <a:pt x="1193775" y="41207"/>
                    <a:pt x="1202812" y="63024"/>
                    <a:pt x="1202812" y="85772"/>
                  </a:cubicBezTo>
                  <a:lnTo>
                    <a:pt x="1202812" y="85772"/>
                  </a:lnTo>
                  <a:cubicBezTo>
                    <a:pt x="1202812" y="108520"/>
                    <a:pt x="1193775" y="130336"/>
                    <a:pt x="1177690" y="146422"/>
                  </a:cubicBezTo>
                  <a:cubicBezTo>
                    <a:pt x="1161604" y="162507"/>
                    <a:pt x="1139788" y="171544"/>
                    <a:pt x="1117040" y="171544"/>
                  </a:cubicBezTo>
                  <a:lnTo>
                    <a:pt x="85772" y="171544"/>
                  </a:lnTo>
                  <a:cubicBezTo>
                    <a:pt x="63024" y="171544"/>
                    <a:pt x="41207" y="162507"/>
                    <a:pt x="25122" y="146422"/>
                  </a:cubicBezTo>
                  <a:cubicBezTo>
                    <a:pt x="9037" y="130336"/>
                    <a:pt x="0" y="108520"/>
                    <a:pt x="0" y="85772"/>
                  </a:cubicBezTo>
                  <a:lnTo>
                    <a:pt x="0" y="85772"/>
                  </a:lnTo>
                  <a:cubicBezTo>
                    <a:pt x="0" y="63024"/>
                    <a:pt x="9037" y="41207"/>
                    <a:pt x="25122" y="25122"/>
                  </a:cubicBezTo>
                  <a:cubicBezTo>
                    <a:pt x="41207" y="9037"/>
                    <a:pt x="63024" y="0"/>
                    <a:pt x="85772" y="0"/>
                  </a:cubicBezTo>
                  <a:close/>
                </a:path>
              </a:pathLst>
            </a:custGeom>
            <a:solidFill>
              <a:srgbClr val="FBEFEC"/>
            </a:solidFill>
            <a:ln w="19050" cap="rnd">
              <a:solidFill>
                <a:srgbClr val="F16315"/>
              </a:solidFill>
              <a:prstDash val="solid"/>
              <a:round/>
            </a:ln>
          </p:spPr>
        </p:sp>
        <p:sp>
          <p:nvSpPr>
            <p:cNvPr name="TextBox 32" id="32"/>
            <p:cNvSpPr txBox="true"/>
            <p:nvPr/>
          </p:nvSpPr>
          <p:spPr>
            <a:xfrm>
              <a:off x="0" y="-9525"/>
              <a:ext cx="1202812" cy="1810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2750928" y="3819919"/>
            <a:ext cx="4622672" cy="1972602"/>
            <a:chOff x="0" y="0"/>
            <a:chExt cx="1202812" cy="513268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202812" cy="513268"/>
            </a:xfrm>
            <a:custGeom>
              <a:avLst/>
              <a:gdLst/>
              <a:ahLst/>
              <a:cxnLst/>
              <a:rect r="r" b="b" t="t" l="l"/>
              <a:pathLst>
                <a:path h="513268" w="1202812">
                  <a:moveTo>
                    <a:pt x="112210" y="0"/>
                  </a:moveTo>
                  <a:lnTo>
                    <a:pt x="1090602" y="0"/>
                  </a:lnTo>
                  <a:cubicBezTo>
                    <a:pt x="1120362" y="0"/>
                    <a:pt x="1148903" y="11822"/>
                    <a:pt x="1169946" y="32865"/>
                  </a:cubicBezTo>
                  <a:cubicBezTo>
                    <a:pt x="1190990" y="53909"/>
                    <a:pt x="1202812" y="82450"/>
                    <a:pt x="1202812" y="112210"/>
                  </a:cubicBezTo>
                  <a:lnTo>
                    <a:pt x="1202812" y="401058"/>
                  </a:lnTo>
                  <a:cubicBezTo>
                    <a:pt x="1202812" y="463030"/>
                    <a:pt x="1152574" y="513268"/>
                    <a:pt x="1090602" y="513268"/>
                  </a:cubicBezTo>
                  <a:lnTo>
                    <a:pt x="112210" y="513268"/>
                  </a:lnTo>
                  <a:cubicBezTo>
                    <a:pt x="82450" y="513268"/>
                    <a:pt x="53909" y="501446"/>
                    <a:pt x="32865" y="480403"/>
                  </a:cubicBezTo>
                  <a:cubicBezTo>
                    <a:pt x="11822" y="459359"/>
                    <a:pt x="0" y="430818"/>
                    <a:pt x="0" y="401058"/>
                  </a:cubicBezTo>
                  <a:lnTo>
                    <a:pt x="0" y="112210"/>
                  </a:lnTo>
                  <a:cubicBezTo>
                    <a:pt x="0" y="50238"/>
                    <a:pt x="50238" y="0"/>
                    <a:pt x="112210" y="0"/>
                  </a:cubicBezTo>
                  <a:close/>
                </a:path>
              </a:pathLst>
            </a:custGeom>
            <a:solidFill>
              <a:srgbClr val="F2FBEC"/>
            </a:solidFill>
            <a:ln w="19050" cap="rnd">
              <a:solidFill>
                <a:srgbClr val="287041"/>
              </a:solidFill>
              <a:prstDash val="solid"/>
              <a:round/>
            </a:ln>
          </p:spPr>
        </p:sp>
        <p:sp>
          <p:nvSpPr>
            <p:cNvPr name="TextBox 35" id="35"/>
            <p:cNvSpPr txBox="true"/>
            <p:nvPr/>
          </p:nvSpPr>
          <p:spPr>
            <a:xfrm>
              <a:off x="0" y="-9525"/>
              <a:ext cx="1202812" cy="5227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12750928" y="3550131"/>
            <a:ext cx="4622672" cy="646041"/>
            <a:chOff x="0" y="0"/>
            <a:chExt cx="1202812" cy="168099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202812" cy="168099"/>
            </a:xfrm>
            <a:custGeom>
              <a:avLst/>
              <a:gdLst/>
              <a:ahLst/>
              <a:cxnLst/>
              <a:rect r="r" b="b" t="t" l="l"/>
              <a:pathLst>
                <a:path h="168099" w="1202812">
                  <a:moveTo>
                    <a:pt x="84049" y="0"/>
                  </a:moveTo>
                  <a:lnTo>
                    <a:pt x="1118762" y="0"/>
                  </a:lnTo>
                  <a:cubicBezTo>
                    <a:pt x="1165182" y="0"/>
                    <a:pt x="1202812" y="37630"/>
                    <a:pt x="1202812" y="84049"/>
                  </a:cubicBezTo>
                  <a:lnTo>
                    <a:pt x="1202812" y="84049"/>
                  </a:lnTo>
                  <a:cubicBezTo>
                    <a:pt x="1202812" y="130469"/>
                    <a:pt x="1165182" y="168099"/>
                    <a:pt x="1118762" y="168099"/>
                  </a:cubicBezTo>
                  <a:lnTo>
                    <a:pt x="84049" y="168099"/>
                  </a:lnTo>
                  <a:cubicBezTo>
                    <a:pt x="37630" y="168099"/>
                    <a:pt x="0" y="130469"/>
                    <a:pt x="0" y="84049"/>
                  </a:cubicBezTo>
                  <a:lnTo>
                    <a:pt x="0" y="84049"/>
                  </a:lnTo>
                  <a:cubicBezTo>
                    <a:pt x="0" y="37630"/>
                    <a:pt x="37630" y="0"/>
                    <a:pt x="84049" y="0"/>
                  </a:cubicBezTo>
                  <a:close/>
                </a:path>
              </a:pathLst>
            </a:custGeom>
            <a:solidFill>
              <a:srgbClr val="FBEFEC"/>
            </a:solidFill>
            <a:ln w="19050" cap="rnd">
              <a:solidFill>
                <a:srgbClr val="F16315"/>
              </a:solidFill>
              <a:prstDash val="solid"/>
              <a:round/>
            </a:ln>
          </p:spPr>
        </p:sp>
        <p:sp>
          <p:nvSpPr>
            <p:cNvPr name="TextBox 38" id="38"/>
            <p:cNvSpPr txBox="true"/>
            <p:nvPr/>
          </p:nvSpPr>
          <p:spPr>
            <a:xfrm>
              <a:off x="0" y="-9525"/>
              <a:ext cx="1202812" cy="1776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7895373" y="5389848"/>
            <a:ext cx="4622672" cy="1948986"/>
            <a:chOff x="0" y="0"/>
            <a:chExt cx="1202812" cy="507123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202812" cy="507123"/>
            </a:xfrm>
            <a:custGeom>
              <a:avLst/>
              <a:gdLst/>
              <a:ahLst/>
              <a:cxnLst/>
              <a:rect r="r" b="b" t="t" l="l"/>
              <a:pathLst>
                <a:path h="507123" w="1202812">
                  <a:moveTo>
                    <a:pt x="112210" y="0"/>
                  </a:moveTo>
                  <a:lnTo>
                    <a:pt x="1090602" y="0"/>
                  </a:lnTo>
                  <a:cubicBezTo>
                    <a:pt x="1120362" y="0"/>
                    <a:pt x="1148903" y="11822"/>
                    <a:pt x="1169946" y="32865"/>
                  </a:cubicBezTo>
                  <a:cubicBezTo>
                    <a:pt x="1190990" y="53909"/>
                    <a:pt x="1202812" y="82450"/>
                    <a:pt x="1202812" y="112210"/>
                  </a:cubicBezTo>
                  <a:lnTo>
                    <a:pt x="1202812" y="394913"/>
                  </a:lnTo>
                  <a:cubicBezTo>
                    <a:pt x="1202812" y="456885"/>
                    <a:pt x="1152574" y="507123"/>
                    <a:pt x="1090602" y="507123"/>
                  </a:cubicBezTo>
                  <a:lnTo>
                    <a:pt x="112210" y="507123"/>
                  </a:lnTo>
                  <a:cubicBezTo>
                    <a:pt x="50238" y="507123"/>
                    <a:pt x="0" y="456885"/>
                    <a:pt x="0" y="394913"/>
                  </a:cubicBezTo>
                  <a:lnTo>
                    <a:pt x="0" y="112210"/>
                  </a:lnTo>
                  <a:cubicBezTo>
                    <a:pt x="0" y="50238"/>
                    <a:pt x="50238" y="0"/>
                    <a:pt x="112210" y="0"/>
                  </a:cubicBezTo>
                  <a:close/>
                </a:path>
              </a:pathLst>
            </a:custGeom>
            <a:solidFill>
              <a:srgbClr val="F2FBEC"/>
            </a:solidFill>
            <a:ln w="19050" cap="rnd">
              <a:solidFill>
                <a:srgbClr val="287041"/>
              </a:solidFill>
              <a:prstDash val="solid"/>
              <a:round/>
            </a:ln>
          </p:spPr>
        </p:sp>
        <p:sp>
          <p:nvSpPr>
            <p:cNvPr name="TextBox 41" id="41"/>
            <p:cNvSpPr txBox="true"/>
            <p:nvPr/>
          </p:nvSpPr>
          <p:spPr>
            <a:xfrm>
              <a:off x="0" y="-9525"/>
              <a:ext cx="1202812" cy="5166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12750928" y="6903047"/>
            <a:ext cx="4622672" cy="1966697"/>
            <a:chOff x="0" y="0"/>
            <a:chExt cx="1202812" cy="511731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202812" cy="511731"/>
            </a:xfrm>
            <a:custGeom>
              <a:avLst/>
              <a:gdLst/>
              <a:ahLst/>
              <a:cxnLst/>
              <a:rect r="r" b="b" t="t" l="l"/>
              <a:pathLst>
                <a:path h="511731" w="1202812">
                  <a:moveTo>
                    <a:pt x="112210" y="0"/>
                  </a:moveTo>
                  <a:lnTo>
                    <a:pt x="1090602" y="0"/>
                  </a:lnTo>
                  <a:cubicBezTo>
                    <a:pt x="1120362" y="0"/>
                    <a:pt x="1148903" y="11822"/>
                    <a:pt x="1169946" y="32865"/>
                  </a:cubicBezTo>
                  <a:cubicBezTo>
                    <a:pt x="1190990" y="53909"/>
                    <a:pt x="1202812" y="82450"/>
                    <a:pt x="1202812" y="112210"/>
                  </a:cubicBezTo>
                  <a:lnTo>
                    <a:pt x="1202812" y="399522"/>
                  </a:lnTo>
                  <a:cubicBezTo>
                    <a:pt x="1202812" y="461493"/>
                    <a:pt x="1152574" y="511731"/>
                    <a:pt x="1090602" y="511731"/>
                  </a:cubicBezTo>
                  <a:lnTo>
                    <a:pt x="112210" y="511731"/>
                  </a:lnTo>
                  <a:cubicBezTo>
                    <a:pt x="82450" y="511731"/>
                    <a:pt x="53909" y="499909"/>
                    <a:pt x="32865" y="478866"/>
                  </a:cubicBezTo>
                  <a:cubicBezTo>
                    <a:pt x="11822" y="457822"/>
                    <a:pt x="0" y="429282"/>
                    <a:pt x="0" y="399522"/>
                  </a:cubicBezTo>
                  <a:lnTo>
                    <a:pt x="0" y="112210"/>
                  </a:lnTo>
                  <a:cubicBezTo>
                    <a:pt x="0" y="50238"/>
                    <a:pt x="50238" y="0"/>
                    <a:pt x="112210" y="0"/>
                  </a:cubicBezTo>
                  <a:close/>
                </a:path>
              </a:pathLst>
            </a:custGeom>
            <a:solidFill>
              <a:srgbClr val="F2FBEC"/>
            </a:solidFill>
            <a:ln w="19050" cap="rnd">
              <a:solidFill>
                <a:srgbClr val="287041"/>
              </a:solidFill>
              <a:prstDash val="solid"/>
              <a:round/>
            </a:ln>
          </p:spPr>
        </p:sp>
        <p:sp>
          <p:nvSpPr>
            <p:cNvPr name="TextBox 44" id="44"/>
            <p:cNvSpPr txBox="true"/>
            <p:nvPr/>
          </p:nvSpPr>
          <p:spPr>
            <a:xfrm>
              <a:off x="0" y="-9525"/>
              <a:ext cx="1202812" cy="5212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7895373" y="5202062"/>
            <a:ext cx="4622672" cy="590460"/>
            <a:chOff x="0" y="0"/>
            <a:chExt cx="1202812" cy="153637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1202812" cy="153637"/>
            </a:xfrm>
            <a:custGeom>
              <a:avLst/>
              <a:gdLst/>
              <a:ahLst/>
              <a:cxnLst/>
              <a:rect r="r" b="b" t="t" l="l"/>
              <a:pathLst>
                <a:path h="153637" w="1202812">
                  <a:moveTo>
                    <a:pt x="76818" y="0"/>
                  </a:moveTo>
                  <a:lnTo>
                    <a:pt x="1125993" y="0"/>
                  </a:lnTo>
                  <a:cubicBezTo>
                    <a:pt x="1146367" y="0"/>
                    <a:pt x="1165906" y="8093"/>
                    <a:pt x="1180312" y="22500"/>
                  </a:cubicBezTo>
                  <a:cubicBezTo>
                    <a:pt x="1194718" y="36906"/>
                    <a:pt x="1202812" y="56445"/>
                    <a:pt x="1202812" y="76818"/>
                  </a:cubicBezTo>
                  <a:lnTo>
                    <a:pt x="1202812" y="76818"/>
                  </a:lnTo>
                  <a:cubicBezTo>
                    <a:pt x="1202812" y="97192"/>
                    <a:pt x="1194718" y="116731"/>
                    <a:pt x="1180312" y="131137"/>
                  </a:cubicBezTo>
                  <a:cubicBezTo>
                    <a:pt x="1165906" y="145543"/>
                    <a:pt x="1146367" y="153637"/>
                    <a:pt x="1125993" y="153637"/>
                  </a:cubicBezTo>
                  <a:lnTo>
                    <a:pt x="76818" y="153637"/>
                  </a:lnTo>
                  <a:cubicBezTo>
                    <a:pt x="56445" y="153637"/>
                    <a:pt x="36906" y="145543"/>
                    <a:pt x="22500" y="131137"/>
                  </a:cubicBezTo>
                  <a:cubicBezTo>
                    <a:pt x="8093" y="116731"/>
                    <a:pt x="0" y="97192"/>
                    <a:pt x="0" y="76818"/>
                  </a:cubicBezTo>
                  <a:lnTo>
                    <a:pt x="0" y="76818"/>
                  </a:lnTo>
                  <a:cubicBezTo>
                    <a:pt x="0" y="56445"/>
                    <a:pt x="8093" y="36906"/>
                    <a:pt x="22500" y="22500"/>
                  </a:cubicBezTo>
                  <a:cubicBezTo>
                    <a:pt x="36906" y="8093"/>
                    <a:pt x="56445" y="0"/>
                    <a:pt x="76818" y="0"/>
                  </a:cubicBezTo>
                  <a:close/>
                </a:path>
              </a:pathLst>
            </a:custGeom>
            <a:solidFill>
              <a:srgbClr val="FBEFEC"/>
            </a:solidFill>
            <a:ln w="19050" cap="rnd">
              <a:solidFill>
                <a:srgbClr val="F16315"/>
              </a:solidFill>
              <a:prstDash val="solid"/>
              <a:round/>
            </a:ln>
          </p:spPr>
        </p:sp>
        <p:sp>
          <p:nvSpPr>
            <p:cNvPr name="TextBox 47" id="47"/>
            <p:cNvSpPr txBox="true"/>
            <p:nvPr/>
          </p:nvSpPr>
          <p:spPr>
            <a:xfrm>
              <a:off x="0" y="-9525"/>
              <a:ext cx="1202812" cy="16316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12750928" y="6635412"/>
            <a:ext cx="4622672" cy="687293"/>
            <a:chOff x="0" y="0"/>
            <a:chExt cx="1202812" cy="178832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202812" cy="178832"/>
            </a:xfrm>
            <a:custGeom>
              <a:avLst/>
              <a:gdLst/>
              <a:ahLst/>
              <a:cxnLst/>
              <a:rect r="r" b="b" t="t" l="l"/>
              <a:pathLst>
                <a:path h="178832" w="1202812">
                  <a:moveTo>
                    <a:pt x="89416" y="0"/>
                  </a:moveTo>
                  <a:lnTo>
                    <a:pt x="1113396" y="0"/>
                  </a:lnTo>
                  <a:cubicBezTo>
                    <a:pt x="1137110" y="0"/>
                    <a:pt x="1159854" y="9421"/>
                    <a:pt x="1176622" y="26189"/>
                  </a:cubicBezTo>
                  <a:cubicBezTo>
                    <a:pt x="1193391" y="42958"/>
                    <a:pt x="1202812" y="65702"/>
                    <a:pt x="1202812" y="89416"/>
                  </a:cubicBezTo>
                  <a:lnTo>
                    <a:pt x="1202812" y="89416"/>
                  </a:lnTo>
                  <a:cubicBezTo>
                    <a:pt x="1202812" y="138799"/>
                    <a:pt x="1162779" y="178832"/>
                    <a:pt x="1113396" y="178832"/>
                  </a:cubicBezTo>
                  <a:lnTo>
                    <a:pt x="89416" y="178832"/>
                  </a:lnTo>
                  <a:cubicBezTo>
                    <a:pt x="40033" y="178832"/>
                    <a:pt x="0" y="138799"/>
                    <a:pt x="0" y="89416"/>
                  </a:cubicBezTo>
                  <a:lnTo>
                    <a:pt x="0" y="89416"/>
                  </a:lnTo>
                  <a:cubicBezTo>
                    <a:pt x="0" y="40033"/>
                    <a:pt x="40033" y="0"/>
                    <a:pt x="89416" y="0"/>
                  </a:cubicBezTo>
                  <a:close/>
                </a:path>
              </a:pathLst>
            </a:custGeom>
            <a:solidFill>
              <a:srgbClr val="FBEFEC"/>
            </a:solidFill>
            <a:ln w="19050" cap="rnd">
              <a:solidFill>
                <a:srgbClr val="F16315"/>
              </a:solidFill>
              <a:prstDash val="solid"/>
              <a:round/>
            </a:ln>
          </p:spPr>
        </p:sp>
        <p:sp>
          <p:nvSpPr>
            <p:cNvPr name="TextBox 50" id="50"/>
            <p:cNvSpPr txBox="true"/>
            <p:nvPr/>
          </p:nvSpPr>
          <p:spPr>
            <a:xfrm>
              <a:off x="0" y="-9525"/>
              <a:ext cx="1202812" cy="1883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sp>
        <p:nvSpPr>
          <p:cNvPr name="Freeform 51" id="51"/>
          <p:cNvSpPr/>
          <p:nvPr/>
        </p:nvSpPr>
        <p:spPr>
          <a:xfrm>
            <a:off x="12518044" y="3311983"/>
            <a:ext cx="2870275" cy="238148"/>
          </a:xfrm>
          <a:custGeom>
            <a:avLst/>
            <a:gdLst/>
            <a:ahLst/>
            <a:cxnLst/>
            <a:rect r="r" b="b" t="t" l="l"/>
            <a:pathLst>
              <a:path h="238148" w="2870275">
                <a:moveTo>
                  <a:pt x="0" y="0"/>
                </a:moveTo>
                <a:lnTo>
                  <a:pt x="2751202" y="0"/>
                </a:lnTo>
                <a:cubicBezTo>
                  <a:pt x="2782782" y="0"/>
                  <a:pt x="2813068" y="12545"/>
                  <a:pt x="2835400" y="34876"/>
                </a:cubicBezTo>
                <a:cubicBezTo>
                  <a:pt x="2857731" y="57206"/>
                  <a:pt x="2870276" y="87494"/>
                  <a:pt x="2870276" y="119074"/>
                </a:cubicBezTo>
                <a:lnTo>
                  <a:pt x="2870276" y="238148"/>
                </a:lnTo>
              </a:path>
            </a:pathLst>
          </a:custGeom>
          <a:ln cap="flat" w="38100">
            <a:solidFill>
              <a:srgbClr val="287041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Freeform 52" id="52"/>
          <p:cNvSpPr/>
          <p:nvPr/>
        </p:nvSpPr>
        <p:spPr>
          <a:xfrm>
            <a:off x="10206708" y="4840830"/>
            <a:ext cx="2574220" cy="361231"/>
          </a:xfrm>
          <a:custGeom>
            <a:avLst/>
            <a:gdLst/>
            <a:ahLst/>
            <a:cxnLst/>
            <a:rect r="r" b="b" t="t" l="l"/>
            <a:pathLst>
              <a:path h="361231" w="2574220">
                <a:moveTo>
                  <a:pt x="0" y="361232"/>
                </a:moveTo>
                <a:lnTo>
                  <a:pt x="0" y="180616"/>
                </a:lnTo>
                <a:cubicBezTo>
                  <a:pt x="0" y="80865"/>
                  <a:pt x="80864" y="0"/>
                  <a:pt x="180616" y="0"/>
                </a:cubicBezTo>
                <a:lnTo>
                  <a:pt x="2574220" y="0"/>
                </a:lnTo>
              </a:path>
            </a:pathLst>
          </a:custGeom>
          <a:ln cap="flat" w="38100">
            <a:solidFill>
              <a:srgbClr val="287041"/>
            </a:solidFill>
            <a:prstDash val="solid"/>
            <a:headEnd type="triangle" len="med" w="lg"/>
            <a:tailEnd type="none" len="sm" w="sm"/>
          </a:ln>
        </p:spPr>
      </p:sp>
      <p:sp>
        <p:nvSpPr>
          <p:cNvPr name="Freeform 53" id="53"/>
          <p:cNvSpPr/>
          <p:nvPr/>
        </p:nvSpPr>
        <p:spPr>
          <a:xfrm>
            <a:off x="12518044" y="6364341"/>
            <a:ext cx="2870275" cy="271071"/>
          </a:xfrm>
          <a:custGeom>
            <a:avLst/>
            <a:gdLst/>
            <a:ahLst/>
            <a:cxnLst/>
            <a:rect r="r" b="b" t="t" l="l"/>
            <a:pathLst>
              <a:path h="271071" w="2870275">
                <a:moveTo>
                  <a:pt x="2870276" y="271071"/>
                </a:moveTo>
                <a:lnTo>
                  <a:pt x="2870276" y="135536"/>
                </a:lnTo>
                <a:cubicBezTo>
                  <a:pt x="2870276" y="99589"/>
                  <a:pt x="2855996" y="65115"/>
                  <a:pt x="2830579" y="39698"/>
                </a:cubicBezTo>
                <a:cubicBezTo>
                  <a:pt x="2805160" y="14280"/>
                  <a:pt x="2770686" y="0"/>
                  <a:pt x="2734740" y="0"/>
                </a:cubicBezTo>
                <a:lnTo>
                  <a:pt x="0" y="0"/>
                </a:lnTo>
              </a:path>
            </a:pathLst>
          </a:custGeom>
          <a:ln cap="flat" w="38100">
            <a:solidFill>
              <a:srgbClr val="287041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Freeform 54" id="54"/>
          <p:cNvSpPr/>
          <p:nvPr/>
        </p:nvSpPr>
        <p:spPr>
          <a:xfrm flipH="false" flipV="false" rot="0">
            <a:off x="234807" y="1434653"/>
            <a:ext cx="793893" cy="559695"/>
          </a:xfrm>
          <a:custGeom>
            <a:avLst/>
            <a:gdLst/>
            <a:ahLst/>
            <a:cxnLst/>
            <a:rect r="r" b="b" t="t" l="l"/>
            <a:pathLst>
              <a:path h="559695" w="793893">
                <a:moveTo>
                  <a:pt x="0" y="0"/>
                </a:moveTo>
                <a:lnTo>
                  <a:pt x="793893" y="0"/>
                </a:lnTo>
                <a:lnTo>
                  <a:pt x="793893" y="559694"/>
                </a:lnTo>
                <a:lnTo>
                  <a:pt x="0" y="55969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5" id="55"/>
          <p:cNvSpPr txBox="true"/>
          <p:nvPr/>
        </p:nvSpPr>
        <p:spPr>
          <a:xfrm rot="0">
            <a:off x="1089057" y="1509712"/>
            <a:ext cx="3304104" cy="409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99"/>
              </a:lnSpc>
            </a:pPr>
            <a:r>
              <a:rPr lang="en-US" b="true" sz="2749">
                <a:solidFill>
                  <a:srgbClr val="C00000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Technology Stack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1376496" y="2350395"/>
            <a:ext cx="4155502" cy="3132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08"/>
              </a:lnSpc>
              <a:spcBef>
                <a:spcPct val="0"/>
              </a:spcBef>
            </a:pPr>
            <a:r>
              <a:rPr lang="en-US" sz="2090">
                <a:solidFill>
                  <a:srgbClr val="FFFFFF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MATLAB (for deployment)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1376496" y="2927571"/>
            <a:ext cx="6233127" cy="16885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90465" indent="-195233" lvl="1">
              <a:lnSpc>
                <a:spcPts val="2712"/>
              </a:lnSpc>
              <a:buAutoNum type="arabicPeriod" startAt="1"/>
            </a:pPr>
            <a:r>
              <a:rPr lang="en-US" b="true" sz="1808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Image Processing Toolbox</a:t>
            </a:r>
          </a:p>
          <a:p>
            <a:pPr algn="l" marL="390465" indent="-195233" lvl="1">
              <a:lnSpc>
                <a:spcPts val="2712"/>
              </a:lnSpc>
              <a:buAutoNum type="arabicPeriod" startAt="1"/>
            </a:pPr>
            <a:r>
              <a:rPr lang="en-US" b="true" sz="1808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Computer Vision Toolbox</a:t>
            </a:r>
          </a:p>
          <a:p>
            <a:pPr algn="l" marL="390465" indent="-195233" lvl="1">
              <a:lnSpc>
                <a:spcPts val="2712"/>
              </a:lnSpc>
              <a:buAutoNum type="arabicPeriod" startAt="1"/>
            </a:pPr>
            <a:r>
              <a:rPr lang="en-US" b="true" sz="1808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Deep Learning Toolbox (+ ONNX Converter)</a:t>
            </a:r>
          </a:p>
          <a:p>
            <a:pPr algn="l" marL="390465" indent="-195233" lvl="1">
              <a:lnSpc>
                <a:spcPts val="2712"/>
              </a:lnSpc>
              <a:buAutoNum type="arabicPeriod" startAt="1"/>
            </a:pPr>
            <a:r>
              <a:rPr lang="en-US" b="true" sz="1808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Simulink</a:t>
            </a:r>
          </a:p>
          <a:p>
            <a:pPr algn="l" marL="390465" indent="-195233" lvl="1">
              <a:lnSpc>
                <a:spcPts val="2712"/>
              </a:lnSpc>
              <a:buAutoNum type="arabicPeriod" startAt="1"/>
            </a:pPr>
            <a:r>
              <a:rPr lang="en-US" b="true" sz="1808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Statistics &amp; ML Toolbox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1374448" y="5012036"/>
            <a:ext cx="3112550" cy="3076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64"/>
              </a:lnSpc>
              <a:spcBef>
                <a:spcPct val="0"/>
              </a:spcBef>
            </a:pPr>
            <a:r>
              <a:rPr lang="en-US" sz="2053">
                <a:solidFill>
                  <a:srgbClr val="FFFFFF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Python</a:t>
            </a:r>
            <a:r>
              <a:rPr lang="en-US" sz="2053">
                <a:solidFill>
                  <a:srgbClr val="FFFFFF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 (for training)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1374448" y="5530148"/>
            <a:ext cx="4783980" cy="13162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3591" indent="-191795" lvl="1">
              <a:lnSpc>
                <a:spcPts val="2665"/>
              </a:lnSpc>
              <a:buAutoNum type="arabicPeriod" startAt="1"/>
            </a:pPr>
            <a:r>
              <a:rPr lang="en-US" b="true" sz="1776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PyTorch + timm (EfficientNet-B3)</a:t>
            </a:r>
          </a:p>
          <a:p>
            <a:pPr algn="l" marL="383591" indent="-191795" lvl="1">
              <a:lnSpc>
                <a:spcPts val="2665"/>
              </a:lnSpc>
              <a:buAutoNum type="arabicPeriod" startAt="1"/>
            </a:pPr>
            <a:r>
              <a:rPr lang="en-US" b="true" sz="1776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Albumentations</a:t>
            </a:r>
          </a:p>
          <a:p>
            <a:pPr algn="l" marL="383591" indent="-191795" lvl="1">
              <a:lnSpc>
                <a:spcPts val="2665"/>
              </a:lnSpc>
              <a:buAutoNum type="arabicPeriod" startAt="1"/>
            </a:pPr>
            <a:r>
              <a:rPr lang="en-US" b="true" sz="1776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ONNX Runtime</a:t>
            </a:r>
          </a:p>
          <a:p>
            <a:pPr algn="l" marL="383591" indent="-191795" lvl="1">
              <a:lnSpc>
                <a:spcPts val="2665"/>
              </a:lnSpc>
              <a:buAutoNum type="arabicPeriod" startAt="1"/>
            </a:pPr>
            <a:r>
              <a:rPr lang="en-US" b="true" sz="1776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FastAPI gateway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1483774" y="7131341"/>
            <a:ext cx="1257335" cy="3006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83"/>
              </a:lnSpc>
              <a:spcBef>
                <a:spcPct val="0"/>
              </a:spcBef>
            </a:pPr>
            <a:r>
              <a:rPr lang="en-US" sz="2069">
                <a:solidFill>
                  <a:srgbClr val="FFFFFF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Datase</a:t>
            </a:r>
            <a:r>
              <a:rPr lang="en-US" sz="2069">
                <a:solidFill>
                  <a:srgbClr val="FFFFFF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ts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1483774" y="7688881"/>
            <a:ext cx="5233891" cy="13263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6643" indent="-193321" lvl="1">
              <a:lnSpc>
                <a:spcPts val="2686"/>
              </a:lnSpc>
              <a:buAutoNum type="arabicPeriod" startAt="1"/>
            </a:pPr>
            <a:r>
              <a:rPr lang="en-US" b="true" sz="1790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APTOS 2019 (~3,662 imgs)</a:t>
            </a:r>
          </a:p>
          <a:p>
            <a:pPr algn="l" marL="386643" indent="-193321" lvl="1">
              <a:lnSpc>
                <a:spcPts val="2686"/>
              </a:lnSpc>
              <a:buAutoNum type="arabicPeriod" startAt="1"/>
            </a:pPr>
            <a:r>
              <a:rPr lang="en-US" b="true" sz="1790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IDRiD (Indian, seg</a:t>
            </a:r>
            <a:r>
              <a:rPr lang="en-US" b="true" sz="1790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mentation + grading)</a:t>
            </a:r>
          </a:p>
          <a:p>
            <a:pPr algn="l" marL="386643" indent="-193321" lvl="1">
              <a:lnSpc>
                <a:spcPts val="2686"/>
              </a:lnSpc>
              <a:buAutoNum type="arabicPeriod" startAt="1"/>
            </a:pPr>
            <a:r>
              <a:rPr lang="en-US" b="true" sz="1790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Me</a:t>
            </a:r>
            <a:r>
              <a:rPr lang="en-US" b="true" sz="1790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ssidor-2 (external benchmark, 1,744 imgs)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7895373" y="1525729"/>
            <a:ext cx="6110764" cy="409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99"/>
              </a:lnSpc>
            </a:pPr>
            <a:r>
              <a:rPr lang="en-US" b="true" sz="2749">
                <a:solidFill>
                  <a:srgbClr val="C00000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System Architecture &amp; Data Flow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8300395" y="2361731"/>
            <a:ext cx="3812626" cy="3375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3"/>
              </a:lnSpc>
              <a:spcBef>
                <a:spcPct val="0"/>
              </a:spcBef>
            </a:pPr>
            <a:r>
              <a:rPr lang="en-US" sz="2328">
                <a:solidFill>
                  <a:srgbClr val="F16315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Client </a:t>
            </a:r>
            <a:r>
              <a:rPr lang="en-US" sz="2328">
                <a:solidFill>
                  <a:srgbClr val="F16315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Tier (Role Based)</a:t>
            </a:r>
          </a:p>
        </p:txBody>
      </p:sp>
      <p:sp>
        <p:nvSpPr>
          <p:cNvPr name="TextBox 64" id="64"/>
          <p:cNvSpPr txBox="true"/>
          <p:nvPr/>
        </p:nvSpPr>
        <p:spPr>
          <a:xfrm rot="0">
            <a:off x="13713180" y="3709133"/>
            <a:ext cx="2698168" cy="3375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3"/>
              </a:lnSpc>
              <a:spcBef>
                <a:spcPct val="0"/>
              </a:spcBef>
            </a:pPr>
            <a:r>
              <a:rPr lang="en-US" sz="2328">
                <a:solidFill>
                  <a:srgbClr val="F16315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FastAPI Gat</a:t>
            </a:r>
            <a:r>
              <a:rPr lang="en-US" sz="2328">
                <a:solidFill>
                  <a:srgbClr val="F16315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eway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8676825" y="5333274"/>
            <a:ext cx="2949053" cy="3375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3"/>
              </a:lnSpc>
              <a:spcBef>
                <a:spcPct val="0"/>
              </a:spcBef>
            </a:pPr>
            <a:r>
              <a:rPr lang="en-US" sz="2328">
                <a:solidFill>
                  <a:srgbClr val="F16315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MATLAB P</a:t>
            </a:r>
            <a:r>
              <a:rPr lang="en-US" sz="2328">
                <a:solidFill>
                  <a:srgbClr val="F16315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ipeline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13012322" y="6844309"/>
            <a:ext cx="4099884" cy="3375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3"/>
              </a:lnSpc>
              <a:spcBef>
                <a:spcPct val="0"/>
              </a:spcBef>
            </a:pPr>
            <a:r>
              <a:rPr lang="en-US" sz="2328">
                <a:solidFill>
                  <a:srgbClr val="F16315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Simulink Capac</a:t>
            </a:r>
            <a:r>
              <a:rPr lang="en-US" sz="2328">
                <a:solidFill>
                  <a:srgbClr val="F16315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ity Model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8498327" y="3029208"/>
            <a:ext cx="3625234" cy="1118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7"/>
              </a:lnSpc>
              <a:spcBef>
                <a:spcPct val="0"/>
              </a:spcBef>
            </a:pPr>
            <a:r>
              <a:rPr lang="en-US" b="true" sz="1872">
                <a:solidFill>
                  <a:srgbClr val="287041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Android: ASHA capture, </a:t>
            </a:r>
          </a:p>
          <a:p>
            <a:pPr algn="l">
              <a:lnSpc>
                <a:spcPts val="2247"/>
              </a:lnSpc>
              <a:spcBef>
                <a:spcPct val="0"/>
              </a:spcBef>
            </a:pPr>
            <a:r>
              <a:rPr lang="en-US" b="true" sz="1872">
                <a:solidFill>
                  <a:srgbClr val="287041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offline sync, voice read-out </a:t>
            </a:r>
          </a:p>
          <a:p>
            <a:pPr algn="l">
              <a:lnSpc>
                <a:spcPts val="2247"/>
              </a:lnSpc>
              <a:spcBef>
                <a:spcPct val="0"/>
              </a:spcBef>
            </a:pPr>
            <a:r>
              <a:rPr lang="en-US" b="true" sz="1872">
                <a:solidFill>
                  <a:srgbClr val="287041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Web: reviewer queue + </a:t>
            </a:r>
          </a:p>
          <a:p>
            <a:pPr algn="l">
              <a:lnSpc>
                <a:spcPts val="2247"/>
              </a:lnSpc>
              <a:spcBef>
                <a:spcPct val="0"/>
              </a:spcBef>
            </a:pPr>
            <a:r>
              <a:rPr lang="en-US" b="true" sz="1872">
                <a:solidFill>
                  <a:srgbClr val="287041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district analytics dashboard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13225577" y="4378905"/>
            <a:ext cx="3851699" cy="1118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7"/>
              </a:lnSpc>
              <a:spcBef>
                <a:spcPct val="0"/>
              </a:spcBef>
            </a:pPr>
            <a:r>
              <a:rPr lang="en-US" b="true" sz="1872">
                <a:solidFill>
                  <a:srgbClr val="287041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P</a:t>
            </a:r>
            <a:r>
              <a:rPr lang="en-US" b="true" sz="1872">
                <a:solidFill>
                  <a:srgbClr val="287041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atients, queue, review, </a:t>
            </a:r>
          </a:p>
          <a:p>
            <a:pPr algn="l">
              <a:lnSpc>
                <a:spcPts val="2247"/>
              </a:lnSpc>
              <a:spcBef>
                <a:spcPct val="0"/>
              </a:spcBef>
            </a:pPr>
            <a:r>
              <a:rPr lang="en-US" b="true" sz="1872">
                <a:solidFill>
                  <a:srgbClr val="287041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analytics, sync, audio </a:t>
            </a:r>
          </a:p>
          <a:p>
            <a:pPr algn="l">
              <a:lnSpc>
                <a:spcPts val="2247"/>
              </a:lnSpc>
              <a:spcBef>
                <a:spcPct val="0"/>
              </a:spcBef>
            </a:pPr>
            <a:r>
              <a:rPr lang="en-US" b="true" sz="1872">
                <a:solidFill>
                  <a:srgbClr val="287041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REST endpoints (PostgreSQL)</a:t>
            </a:r>
          </a:p>
          <a:p>
            <a:pPr algn="just">
              <a:lnSpc>
                <a:spcPts val="2247"/>
              </a:lnSpc>
              <a:spcBef>
                <a:spcPct val="0"/>
              </a:spcBef>
            </a:pPr>
          </a:p>
        </p:txBody>
      </p:sp>
      <p:sp>
        <p:nvSpPr>
          <p:cNvPr name="TextBox 69" id="69"/>
          <p:cNvSpPr txBox="true"/>
          <p:nvPr/>
        </p:nvSpPr>
        <p:spPr>
          <a:xfrm rot="0">
            <a:off x="8394091" y="5995994"/>
            <a:ext cx="3833705" cy="838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247"/>
              </a:lnSpc>
            </a:pPr>
            <a:r>
              <a:rPr lang="en-US" sz="1872" b="true">
                <a:solidFill>
                  <a:srgbClr val="287041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QA → Enhance → Segment</a:t>
            </a:r>
          </a:p>
          <a:p>
            <a:pPr algn="just">
              <a:lnSpc>
                <a:spcPts val="2247"/>
              </a:lnSpc>
            </a:pPr>
            <a:r>
              <a:rPr lang="en-US" sz="1872" b="true">
                <a:solidFill>
                  <a:srgbClr val="287041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→ Grade → Grad-CAM → Report</a:t>
            </a:r>
          </a:p>
          <a:p>
            <a:pPr algn="just">
              <a:lnSpc>
                <a:spcPts val="2247"/>
              </a:lnSpc>
              <a:spcBef>
                <a:spcPct val="0"/>
              </a:spcBef>
            </a:pPr>
          </a:p>
        </p:txBody>
      </p:sp>
      <p:sp>
        <p:nvSpPr>
          <p:cNvPr name="TextBox 70" id="70"/>
          <p:cNvSpPr txBox="true"/>
          <p:nvPr/>
        </p:nvSpPr>
        <p:spPr>
          <a:xfrm rot="0">
            <a:off x="13659676" y="7589405"/>
            <a:ext cx="2759210" cy="838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247"/>
              </a:lnSpc>
            </a:pPr>
            <a:r>
              <a:rPr lang="en-US" sz="1872" b="true">
                <a:solidFill>
                  <a:srgbClr val="287041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Reviewer + bandwidth</a:t>
            </a:r>
          </a:p>
          <a:p>
            <a:pPr algn="just">
              <a:lnSpc>
                <a:spcPts val="2247"/>
              </a:lnSpc>
            </a:pPr>
            <a:r>
              <a:rPr lang="en-US" sz="1872" b="true">
                <a:solidFill>
                  <a:srgbClr val="287041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sizing for 100k+/yr</a:t>
            </a:r>
          </a:p>
          <a:p>
            <a:pPr algn="just">
              <a:lnSpc>
                <a:spcPts val="2247"/>
              </a:lnSpc>
              <a:spcBef>
                <a:spcPct val="0"/>
              </a:spcBef>
            </a:pPr>
          </a:p>
        </p:txBody>
      </p:sp>
      <p:sp>
        <p:nvSpPr>
          <p:cNvPr name="TextBox 71" id="71"/>
          <p:cNvSpPr txBox="true"/>
          <p:nvPr/>
        </p:nvSpPr>
        <p:spPr>
          <a:xfrm rot="0">
            <a:off x="1028700" y="9020175"/>
            <a:ext cx="16459200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i="true">
                <a:solidFill>
                  <a:srgbClr val="4A5A66"/>
                </a:solidFill>
                <a:latin typeface="Montserrat Italics"/>
                <a:ea typeface="Montserrat Italics"/>
                <a:cs typeface="Montserrat Italics"/>
                <a:sym typeface="Montserrat Italics"/>
              </a:rPr>
              <a:t>Train fast in PyTorch → export ONNX → import into MATLAB (importNetworkFromONNX) for inference + Grad-CAM — a deliberate hybrid, not a workaround: fastest iteration where it matters, MathWorks tooling where the problem statement calls for it.</a:t>
            </a:r>
          </a:p>
        </p:txBody>
      </p:sp>
      <p:sp>
        <p:nvSpPr>
          <p:cNvPr name="Freeform 72" id="72"/>
          <p:cNvSpPr/>
          <p:nvPr/>
        </p:nvSpPr>
        <p:spPr>
          <a:xfrm flipH="false" flipV="false" rot="0">
            <a:off x="6815729" y="1434653"/>
            <a:ext cx="793893" cy="559695"/>
          </a:xfrm>
          <a:custGeom>
            <a:avLst/>
            <a:gdLst/>
            <a:ahLst/>
            <a:cxnLst/>
            <a:rect r="r" b="b" t="t" l="l"/>
            <a:pathLst>
              <a:path h="559695" w="793893">
                <a:moveTo>
                  <a:pt x="0" y="0"/>
                </a:moveTo>
                <a:lnTo>
                  <a:pt x="793894" y="0"/>
                </a:lnTo>
                <a:lnTo>
                  <a:pt x="793894" y="559694"/>
                </a:lnTo>
                <a:lnTo>
                  <a:pt x="0" y="55969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4681728" y="76305"/>
            <a:ext cx="8855964" cy="1714500"/>
            <a:chOff x="0" y="0"/>
            <a:chExt cx="11807952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807952" cy="2286000"/>
            </a:xfrm>
            <a:custGeom>
              <a:avLst/>
              <a:gdLst/>
              <a:ahLst/>
              <a:cxnLst/>
              <a:rect r="r" b="b" t="t" l="l"/>
              <a:pathLst>
                <a:path h="2286000" w="11807952">
                  <a:moveTo>
                    <a:pt x="0" y="0"/>
                  </a:moveTo>
                  <a:lnTo>
                    <a:pt x="11807952" y="0"/>
                  </a:lnTo>
                  <a:lnTo>
                    <a:pt x="11807952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-85854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11807952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 b="true">
                  <a:solidFill>
                    <a:srgbClr val="000000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FEASIBILITY AND VIABILITY</a:t>
              </a: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1043595" y="1500483"/>
            <a:ext cx="16132230" cy="1042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820"/>
              </a:lnSpc>
            </a:pPr>
            <a:r>
              <a:rPr lang="en-US" b="true" sz="1880">
                <a:solidFill>
                  <a:srgbClr val="0B4F6C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Feasibility: C</a:t>
            </a:r>
            <a:r>
              <a:rPr lang="en-US" b="true" sz="1880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ore classical-CV pipeline runs end-to-end today with no trained model required; the trained severity classifier is tested on Messidor-2, a benchmark completely untouched during training — the honest, external standard most hackathon prototypes never check against.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4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6972300" y="9534525"/>
            <a:ext cx="4806001" cy="547688"/>
            <a:chOff x="0" y="0"/>
            <a:chExt cx="6408001" cy="73025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Template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86690" y="186690"/>
            <a:ext cx="1889760" cy="861060"/>
            <a:chOff x="0" y="0"/>
            <a:chExt cx="2519680" cy="1148080"/>
          </a:xfrm>
        </p:grpSpPr>
        <p:sp>
          <p:nvSpPr>
            <p:cNvPr name="Freeform 15" id="15" descr="Your startup LOGO"/>
            <p:cNvSpPr/>
            <p:nvPr/>
          </p:nvSpPr>
          <p:spPr>
            <a:xfrm flipH="false" flipV="false" rot="0">
              <a:off x="0" y="0"/>
              <a:ext cx="2519680" cy="1148080"/>
            </a:xfrm>
            <a:custGeom>
              <a:avLst/>
              <a:gdLst/>
              <a:ahLst/>
              <a:cxnLst/>
              <a:rect r="r" b="b" t="t" l="l"/>
              <a:pathLst>
                <a:path h="1148080" w="2519680">
                  <a:moveTo>
                    <a:pt x="0" y="574040"/>
                  </a:moveTo>
                  <a:cubicBezTo>
                    <a:pt x="0" y="257048"/>
                    <a:pt x="564007" y="0"/>
                    <a:pt x="1259840" y="0"/>
                  </a:cubicBezTo>
                  <a:cubicBezTo>
                    <a:pt x="1955673" y="0"/>
                    <a:pt x="2519680" y="257048"/>
                    <a:pt x="2519680" y="574040"/>
                  </a:cubicBezTo>
                  <a:cubicBezTo>
                    <a:pt x="2519680" y="891032"/>
                    <a:pt x="1955673" y="1148080"/>
                    <a:pt x="1259840" y="1148080"/>
                  </a:cubicBezTo>
                  <a:cubicBezTo>
                    <a:pt x="564007" y="1148080"/>
                    <a:pt x="0" y="891032"/>
                    <a:pt x="0" y="57404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0"/>
              <a:ext cx="2519680" cy="114808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08384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Veyronix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4762045" y="85649"/>
            <a:ext cx="3313681" cy="1684306"/>
            <a:chOff x="0" y="0"/>
            <a:chExt cx="4418241" cy="2245741"/>
          </a:xfrm>
        </p:grpSpPr>
        <p:sp>
          <p:nvSpPr>
            <p:cNvPr name="Freeform 18" id="18" descr="https://www.sih.gov.in/img1/SIH-Logo.png"/>
            <p:cNvSpPr/>
            <p:nvPr/>
          </p:nvSpPr>
          <p:spPr>
            <a:xfrm flipH="false" flipV="false" rot="0">
              <a:off x="0" y="0"/>
              <a:ext cx="4418203" cy="2245741"/>
            </a:xfrm>
            <a:custGeom>
              <a:avLst/>
              <a:gdLst/>
              <a:ahLst/>
              <a:cxnLst/>
              <a:rect r="r" b="b" t="t" l="l"/>
              <a:pathLst>
                <a:path h="2245741" w="4418203">
                  <a:moveTo>
                    <a:pt x="0" y="0"/>
                  </a:moveTo>
                  <a:lnTo>
                    <a:pt x="4418203" y="0"/>
                  </a:lnTo>
                  <a:lnTo>
                    <a:pt x="4418203" y="2245741"/>
                  </a:lnTo>
                  <a:lnTo>
                    <a:pt x="0" y="22457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4703781" y="3521307"/>
            <a:ext cx="1378155" cy="301752"/>
            <a:chOff x="0" y="0"/>
            <a:chExt cx="1837540" cy="40233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837541" cy="402336"/>
            </a:xfrm>
            <a:custGeom>
              <a:avLst/>
              <a:gdLst/>
              <a:ahLst/>
              <a:cxnLst/>
              <a:rect r="r" b="b" t="t" l="l"/>
              <a:pathLst>
                <a:path h="402336" w="1837541">
                  <a:moveTo>
                    <a:pt x="0" y="120650"/>
                  </a:moveTo>
                  <a:cubicBezTo>
                    <a:pt x="0" y="54102"/>
                    <a:pt x="45300" y="0"/>
                    <a:pt x="101022" y="0"/>
                  </a:cubicBezTo>
                  <a:lnTo>
                    <a:pt x="1736518" y="0"/>
                  </a:lnTo>
                  <a:cubicBezTo>
                    <a:pt x="1792346" y="0"/>
                    <a:pt x="1837541" y="54102"/>
                    <a:pt x="1837541" y="120650"/>
                  </a:cubicBezTo>
                  <a:lnTo>
                    <a:pt x="1837541" y="281686"/>
                  </a:lnTo>
                  <a:cubicBezTo>
                    <a:pt x="1837541" y="348361"/>
                    <a:pt x="1792240" y="402336"/>
                    <a:pt x="1736518" y="402336"/>
                  </a:cubicBezTo>
                  <a:lnTo>
                    <a:pt x="101022" y="402336"/>
                  </a:lnTo>
                  <a:cubicBezTo>
                    <a:pt x="45194" y="402336"/>
                    <a:pt x="0" y="348234"/>
                    <a:pt x="0" y="281686"/>
                  </a:cubicBezTo>
                  <a:close/>
                </a:path>
              </a:pathLst>
            </a:custGeom>
            <a:solidFill>
              <a:srgbClr val="E76F51"/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4703781" y="4371699"/>
            <a:ext cx="1708913" cy="301752"/>
            <a:chOff x="0" y="0"/>
            <a:chExt cx="2278550" cy="402336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278529" cy="402336"/>
            </a:xfrm>
            <a:custGeom>
              <a:avLst/>
              <a:gdLst/>
              <a:ahLst/>
              <a:cxnLst/>
              <a:rect r="r" b="b" t="t" l="l"/>
              <a:pathLst>
                <a:path h="402336" w="2278529">
                  <a:moveTo>
                    <a:pt x="0" y="120650"/>
                  </a:moveTo>
                  <a:cubicBezTo>
                    <a:pt x="0" y="54102"/>
                    <a:pt x="45300" y="0"/>
                    <a:pt x="101022" y="0"/>
                  </a:cubicBezTo>
                  <a:lnTo>
                    <a:pt x="2177507" y="0"/>
                  </a:lnTo>
                  <a:cubicBezTo>
                    <a:pt x="2233335" y="0"/>
                    <a:pt x="2278529" y="54102"/>
                    <a:pt x="2278529" y="120650"/>
                  </a:cubicBezTo>
                  <a:lnTo>
                    <a:pt x="2278529" y="281686"/>
                  </a:lnTo>
                  <a:cubicBezTo>
                    <a:pt x="2278529" y="348361"/>
                    <a:pt x="2233228" y="402336"/>
                    <a:pt x="2177507" y="402336"/>
                  </a:cubicBezTo>
                  <a:lnTo>
                    <a:pt x="101022" y="402336"/>
                  </a:lnTo>
                  <a:cubicBezTo>
                    <a:pt x="45194" y="402336"/>
                    <a:pt x="0" y="348234"/>
                    <a:pt x="0" y="281686"/>
                  </a:cubicBezTo>
                  <a:close/>
                </a:path>
              </a:pathLst>
            </a:custGeom>
            <a:solidFill>
              <a:srgbClr val="14919B"/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4703781" y="5222091"/>
            <a:ext cx="2179782" cy="378787"/>
            <a:chOff x="0" y="0"/>
            <a:chExt cx="2315301" cy="402336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315216" cy="402336"/>
            </a:xfrm>
            <a:custGeom>
              <a:avLst/>
              <a:gdLst/>
              <a:ahLst/>
              <a:cxnLst/>
              <a:rect r="r" b="b" t="t" l="l"/>
              <a:pathLst>
                <a:path h="402336" w="2315216">
                  <a:moveTo>
                    <a:pt x="0" y="120650"/>
                  </a:moveTo>
                  <a:cubicBezTo>
                    <a:pt x="0" y="54102"/>
                    <a:pt x="45300" y="0"/>
                    <a:pt x="101022" y="0"/>
                  </a:cubicBezTo>
                  <a:lnTo>
                    <a:pt x="2214194" y="0"/>
                  </a:lnTo>
                  <a:cubicBezTo>
                    <a:pt x="2270022" y="0"/>
                    <a:pt x="2315216" y="54102"/>
                    <a:pt x="2315216" y="120650"/>
                  </a:cubicBezTo>
                  <a:lnTo>
                    <a:pt x="2315216" y="281686"/>
                  </a:lnTo>
                  <a:cubicBezTo>
                    <a:pt x="2315216" y="348361"/>
                    <a:pt x="2269916" y="402336"/>
                    <a:pt x="2214194" y="402336"/>
                  </a:cubicBezTo>
                  <a:lnTo>
                    <a:pt x="101022" y="402336"/>
                  </a:lnTo>
                  <a:cubicBezTo>
                    <a:pt x="45194" y="402336"/>
                    <a:pt x="0" y="348234"/>
                    <a:pt x="0" y="281686"/>
                  </a:cubicBezTo>
                  <a:close/>
                </a:path>
              </a:pathLst>
            </a:custGeom>
            <a:solidFill>
              <a:srgbClr val="0B4F6C"/>
            </a:solidFill>
          </p:spPr>
        </p:sp>
      </p:grpSp>
      <p:graphicFrame>
        <p:nvGraphicFramePr>
          <p:cNvPr name="Table 25" id="25"/>
          <p:cNvGraphicFramePr>
            <a:graphicFrameLocks noGrp="true"/>
          </p:cNvGraphicFramePr>
          <p:nvPr/>
        </p:nvGraphicFramePr>
        <p:xfrm>
          <a:off x="480060" y="6377940"/>
          <a:ext cx="17273588" cy="2871788"/>
        </p:xfrm>
        <a:graphic>
          <a:graphicData uri="http://schemas.openxmlformats.org/drawingml/2006/table">
            <a:tbl>
              <a:tblPr/>
              <a:tblGrid>
                <a:gridCol w="4249851"/>
                <a:gridCol w="5620770"/>
                <a:gridCol w="7402967"/>
              </a:tblGrid>
              <a:tr h="574357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980"/>
                        </a:lnSpc>
                        <a:defRPr/>
                      </a:pPr>
                      <a:r>
                        <a:rPr lang="en-US" sz="1650" b="true">
                          <a:solidFill>
                            <a:srgbClr val="FFFFFF"/>
                          </a:solidFill>
                          <a:latin typeface="Libre Baskerville Bold"/>
                          <a:ea typeface="Libre Baskerville Bold"/>
                          <a:cs typeface="Libre Baskerville Bold"/>
                          <a:sym typeface="Libre Baskerville Bold"/>
                        </a:rPr>
                        <a:t>Risk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631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980"/>
                        </a:lnSpc>
                        <a:defRPr/>
                      </a:pPr>
                      <a:r>
                        <a:rPr lang="en-US" sz="1650" b="true">
                          <a:solidFill>
                            <a:srgbClr val="FFFFFF"/>
                          </a:solidFill>
                          <a:latin typeface="Libre Baskerville Bold"/>
                          <a:ea typeface="Libre Baskerville Bold"/>
                          <a:cs typeface="Libre Baskerville Bold"/>
                          <a:sym typeface="Libre Baskerville Bold"/>
                        </a:rPr>
                        <a:t>Why it matters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980"/>
                        </a:lnSpc>
                        <a:defRPr/>
                      </a:pPr>
                      <a:r>
                        <a:rPr lang="en-US" sz="1650" b="true">
                          <a:solidFill>
                            <a:srgbClr val="FFFFFF"/>
                          </a:solidFill>
                          <a:latin typeface="Libre Baskerville Bold"/>
                          <a:ea typeface="Libre Baskerville Bold"/>
                          <a:cs typeface="Libre Baskerville Bold"/>
                          <a:sym typeface="Libre Baskerville Bold"/>
                        </a:rPr>
                        <a:t>Mitigation strategy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</a:tr>
              <a:tr h="574357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Cross-camera domain shift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Confirmed via external Messidor-2 testing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Ben Graham color normalisation + multi-source (APTOS+IDRiD) training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</a:tr>
              <a:tr h="574357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Rare-class (severe/PDR) data scarcity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Causes unstable, biased predictions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Class-weighted sampling + ordinal-aware loss + seed/checkpoint selection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4357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Silent misdiagnosis risk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Any AI-alone system can be confidently wrong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Calibrated confidence gates mandatory human review, never a silent miss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</a:tr>
              <a:tr h="574357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District rollout planning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Unknown staffing/bandwidth needs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Simulink capacity model sizes reviewers &amp; bandwidth for target volume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name="Freeform 26" id="26"/>
          <p:cNvSpPr/>
          <p:nvPr/>
        </p:nvSpPr>
        <p:spPr>
          <a:xfrm flipH="false" flipV="false" rot="0">
            <a:off x="8852535" y="2818085"/>
            <a:ext cx="8017727" cy="3052363"/>
          </a:xfrm>
          <a:custGeom>
            <a:avLst/>
            <a:gdLst/>
            <a:ahLst/>
            <a:cxnLst/>
            <a:rect r="r" b="b" t="t" l="l"/>
            <a:pathLst>
              <a:path h="3052363" w="8017727">
                <a:moveTo>
                  <a:pt x="0" y="0"/>
                </a:moveTo>
                <a:lnTo>
                  <a:pt x="8017727" y="0"/>
                </a:lnTo>
                <a:lnTo>
                  <a:pt x="8017727" y="3052363"/>
                </a:lnTo>
                <a:lnTo>
                  <a:pt x="0" y="30523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27" id="27"/>
          <p:cNvSpPr txBox="true"/>
          <p:nvPr/>
        </p:nvSpPr>
        <p:spPr>
          <a:xfrm rot="0">
            <a:off x="1028700" y="2762355"/>
            <a:ext cx="7440088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true">
                <a:solidFill>
                  <a:srgbClr val="0B4F6C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Iteration Evidence (external Messidor-2 benchmark)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028700" y="3493875"/>
            <a:ext cx="3617658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1.</a:t>
            </a:r>
            <a:r>
              <a:rPr lang="en-US" sz="1800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Baseline model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168376" y="3572170"/>
            <a:ext cx="803924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b="true" sz="1350">
                <a:solidFill>
                  <a:srgbClr val="F1631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0.50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028700" y="4344267"/>
            <a:ext cx="3617658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2.</a:t>
            </a:r>
            <a:r>
              <a:rPr lang="en-US" sz="1800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Ben Graham norm. + IDRiD data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6552806" y="4397130"/>
            <a:ext cx="803924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14919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0.62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028700" y="5194659"/>
            <a:ext cx="3617658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 3.Weighted ensemble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6972300" y="5299434"/>
            <a:ext cx="803924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0B4F6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0.74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3951839" y="3161452"/>
            <a:ext cx="4260194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4" i="true">
                <a:solidFill>
                  <a:srgbClr val="F16315"/>
                </a:solidFill>
                <a:latin typeface="Montserrat Italics"/>
                <a:ea typeface="Montserrat Italics"/>
                <a:cs typeface="Montserrat Italics"/>
                <a:sym typeface="Montserrat Italics"/>
              </a:rPr>
              <a:t>Referable-DR sensitivity (target ≥ 0.90)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043595" y="5841771"/>
            <a:ext cx="82296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true">
                <a:solidFill>
                  <a:srgbClr val="0B4F6C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Key Risks — Identified &amp; Addressed Through Testing</a:t>
            </a:r>
          </a:p>
        </p:txBody>
      </p:sp>
      <p:sp>
        <p:nvSpPr>
          <p:cNvPr name="Freeform 36" id="36"/>
          <p:cNvSpPr/>
          <p:nvPr/>
        </p:nvSpPr>
        <p:spPr>
          <a:xfrm flipH="false" flipV="false" rot="0">
            <a:off x="83113" y="2634907"/>
            <a:ext cx="793893" cy="559695"/>
          </a:xfrm>
          <a:custGeom>
            <a:avLst/>
            <a:gdLst/>
            <a:ahLst/>
            <a:cxnLst/>
            <a:rect r="r" b="b" t="t" l="l"/>
            <a:pathLst>
              <a:path h="559695" w="793893">
                <a:moveTo>
                  <a:pt x="0" y="0"/>
                </a:moveTo>
                <a:lnTo>
                  <a:pt x="793894" y="0"/>
                </a:lnTo>
                <a:lnTo>
                  <a:pt x="793894" y="559695"/>
                </a:lnTo>
                <a:lnTo>
                  <a:pt x="0" y="55969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7" id="37"/>
          <p:cNvSpPr/>
          <p:nvPr/>
        </p:nvSpPr>
        <p:spPr>
          <a:xfrm flipH="false" flipV="false" rot="0">
            <a:off x="186690" y="5714324"/>
            <a:ext cx="793893" cy="559695"/>
          </a:xfrm>
          <a:custGeom>
            <a:avLst/>
            <a:gdLst/>
            <a:ahLst/>
            <a:cxnLst/>
            <a:rect r="r" b="b" t="t" l="l"/>
            <a:pathLst>
              <a:path h="559695" w="793893">
                <a:moveTo>
                  <a:pt x="0" y="0"/>
                </a:moveTo>
                <a:lnTo>
                  <a:pt x="793893" y="0"/>
                </a:lnTo>
                <a:lnTo>
                  <a:pt x="793893" y="559694"/>
                </a:lnTo>
                <a:lnTo>
                  <a:pt x="0" y="55969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21945600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 b="true">
                  <a:solidFill>
                    <a:srgbClr val="000000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IMPACT AND BENEFITS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5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972300" y="9534525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Template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86690" y="186690"/>
            <a:ext cx="1889760" cy="861060"/>
            <a:chOff x="0" y="0"/>
            <a:chExt cx="2519680" cy="1148080"/>
          </a:xfrm>
        </p:grpSpPr>
        <p:sp>
          <p:nvSpPr>
            <p:cNvPr name="Freeform 14" id="14" descr="Your startup LOGO"/>
            <p:cNvSpPr/>
            <p:nvPr/>
          </p:nvSpPr>
          <p:spPr>
            <a:xfrm flipH="false" flipV="false" rot="0">
              <a:off x="0" y="0"/>
              <a:ext cx="2519680" cy="1148080"/>
            </a:xfrm>
            <a:custGeom>
              <a:avLst/>
              <a:gdLst/>
              <a:ahLst/>
              <a:cxnLst/>
              <a:rect r="r" b="b" t="t" l="l"/>
              <a:pathLst>
                <a:path h="1148080" w="2519680">
                  <a:moveTo>
                    <a:pt x="0" y="574040"/>
                  </a:moveTo>
                  <a:cubicBezTo>
                    <a:pt x="0" y="257048"/>
                    <a:pt x="564007" y="0"/>
                    <a:pt x="1259840" y="0"/>
                  </a:cubicBezTo>
                  <a:cubicBezTo>
                    <a:pt x="1955673" y="0"/>
                    <a:pt x="2519680" y="257048"/>
                    <a:pt x="2519680" y="574040"/>
                  </a:cubicBezTo>
                  <a:cubicBezTo>
                    <a:pt x="2519680" y="891032"/>
                    <a:pt x="1955673" y="1148080"/>
                    <a:pt x="1259840" y="1148080"/>
                  </a:cubicBezTo>
                  <a:cubicBezTo>
                    <a:pt x="564007" y="1148080"/>
                    <a:pt x="0" y="891032"/>
                    <a:pt x="0" y="57404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0"/>
              <a:ext cx="2519680" cy="114808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08384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Veyronix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4762045" y="85649"/>
            <a:ext cx="3313681" cy="1684306"/>
            <a:chOff x="0" y="0"/>
            <a:chExt cx="4418241" cy="2245741"/>
          </a:xfrm>
        </p:grpSpPr>
        <p:sp>
          <p:nvSpPr>
            <p:cNvPr name="Freeform 17" id="17" descr="https://www.sih.gov.in/img1/SIH-Logo.png"/>
            <p:cNvSpPr/>
            <p:nvPr/>
          </p:nvSpPr>
          <p:spPr>
            <a:xfrm flipH="false" flipV="false" rot="0">
              <a:off x="0" y="0"/>
              <a:ext cx="4418203" cy="2245741"/>
            </a:xfrm>
            <a:custGeom>
              <a:avLst/>
              <a:gdLst/>
              <a:ahLst/>
              <a:cxnLst/>
              <a:rect r="r" b="b" t="t" l="l"/>
              <a:pathLst>
                <a:path h="2245741" w="4418203">
                  <a:moveTo>
                    <a:pt x="0" y="0"/>
                  </a:moveTo>
                  <a:lnTo>
                    <a:pt x="4418203" y="0"/>
                  </a:lnTo>
                  <a:lnTo>
                    <a:pt x="4418203" y="2245741"/>
                  </a:lnTo>
                  <a:lnTo>
                    <a:pt x="0" y="22457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2826651" y="1815465"/>
            <a:ext cx="6170422" cy="2103268"/>
            <a:chOff x="0" y="0"/>
            <a:chExt cx="1768594" cy="602848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68594" cy="602848"/>
            </a:xfrm>
            <a:custGeom>
              <a:avLst/>
              <a:gdLst/>
              <a:ahLst/>
              <a:cxnLst/>
              <a:rect r="r" b="b" t="t" l="l"/>
              <a:pathLst>
                <a:path h="602848" w="1768594">
                  <a:moveTo>
                    <a:pt x="57715" y="0"/>
                  </a:moveTo>
                  <a:lnTo>
                    <a:pt x="1710879" y="0"/>
                  </a:lnTo>
                  <a:cubicBezTo>
                    <a:pt x="1726186" y="0"/>
                    <a:pt x="1740866" y="6081"/>
                    <a:pt x="1751690" y="16904"/>
                  </a:cubicBezTo>
                  <a:cubicBezTo>
                    <a:pt x="1762514" y="27728"/>
                    <a:pt x="1768594" y="42408"/>
                    <a:pt x="1768594" y="57715"/>
                  </a:cubicBezTo>
                  <a:lnTo>
                    <a:pt x="1768594" y="545133"/>
                  </a:lnTo>
                  <a:cubicBezTo>
                    <a:pt x="1768594" y="560440"/>
                    <a:pt x="1762514" y="575120"/>
                    <a:pt x="1751690" y="585944"/>
                  </a:cubicBezTo>
                  <a:cubicBezTo>
                    <a:pt x="1740866" y="596767"/>
                    <a:pt x="1726186" y="602848"/>
                    <a:pt x="1710879" y="602848"/>
                  </a:cubicBezTo>
                  <a:lnTo>
                    <a:pt x="57715" y="602848"/>
                  </a:lnTo>
                  <a:cubicBezTo>
                    <a:pt x="42408" y="602848"/>
                    <a:pt x="27728" y="596767"/>
                    <a:pt x="16904" y="585944"/>
                  </a:cubicBezTo>
                  <a:cubicBezTo>
                    <a:pt x="6081" y="575120"/>
                    <a:pt x="0" y="560440"/>
                    <a:pt x="0" y="545133"/>
                  </a:cubicBezTo>
                  <a:lnTo>
                    <a:pt x="0" y="57715"/>
                  </a:lnTo>
                  <a:cubicBezTo>
                    <a:pt x="0" y="42408"/>
                    <a:pt x="6081" y="27728"/>
                    <a:pt x="16904" y="16904"/>
                  </a:cubicBezTo>
                  <a:cubicBezTo>
                    <a:pt x="27728" y="6081"/>
                    <a:pt x="42408" y="0"/>
                    <a:pt x="57715" y="0"/>
                  </a:cubicBezTo>
                  <a:close/>
                </a:path>
              </a:pathLst>
            </a:custGeom>
            <a:ln w="38100" cap="rnd">
              <a:solidFill>
                <a:srgbClr val="0B4F6C"/>
              </a:solidFill>
              <a:prstDash val="solid"/>
              <a:round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0" y="-28575"/>
              <a:ext cx="1768594" cy="6314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85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3699456" y="1349980"/>
            <a:ext cx="4107253" cy="756045"/>
            <a:chOff x="0" y="0"/>
            <a:chExt cx="1472053" cy="270969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472053" cy="270969"/>
            </a:xfrm>
            <a:custGeom>
              <a:avLst/>
              <a:gdLst/>
              <a:ahLst/>
              <a:cxnLst/>
              <a:rect r="r" b="b" t="t" l="l"/>
              <a:pathLst>
                <a:path h="270969" w="1472053">
                  <a:moveTo>
                    <a:pt x="135484" y="0"/>
                  </a:moveTo>
                  <a:lnTo>
                    <a:pt x="1336568" y="0"/>
                  </a:lnTo>
                  <a:cubicBezTo>
                    <a:pt x="1411394" y="0"/>
                    <a:pt x="1472053" y="60658"/>
                    <a:pt x="1472053" y="135484"/>
                  </a:cubicBezTo>
                  <a:lnTo>
                    <a:pt x="1472053" y="135484"/>
                  </a:lnTo>
                  <a:cubicBezTo>
                    <a:pt x="1472053" y="210310"/>
                    <a:pt x="1411394" y="270969"/>
                    <a:pt x="1336568" y="270969"/>
                  </a:cubicBezTo>
                  <a:lnTo>
                    <a:pt x="135484" y="270969"/>
                  </a:lnTo>
                  <a:cubicBezTo>
                    <a:pt x="60658" y="270969"/>
                    <a:pt x="0" y="210310"/>
                    <a:pt x="0" y="135484"/>
                  </a:cubicBezTo>
                  <a:lnTo>
                    <a:pt x="0" y="135484"/>
                  </a:lnTo>
                  <a:cubicBezTo>
                    <a:pt x="0" y="60658"/>
                    <a:pt x="60658" y="0"/>
                    <a:pt x="135484" y="0"/>
                  </a:cubicBezTo>
                  <a:close/>
                </a:path>
              </a:pathLst>
            </a:custGeom>
            <a:solidFill>
              <a:srgbClr val="0B4F6C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47625"/>
              <a:ext cx="1472053" cy="3185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2558893" y="1200128"/>
            <a:ext cx="1140562" cy="1088718"/>
            <a:chOff x="0" y="0"/>
            <a:chExt cx="851505" cy="8128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851505" cy="812800"/>
            </a:xfrm>
            <a:custGeom>
              <a:avLst/>
              <a:gdLst/>
              <a:ahLst/>
              <a:cxnLst/>
              <a:rect r="r" b="b" t="t" l="l"/>
              <a:pathLst>
                <a:path h="812800" w="851505">
                  <a:moveTo>
                    <a:pt x="425753" y="0"/>
                  </a:moveTo>
                  <a:cubicBezTo>
                    <a:pt x="190616" y="0"/>
                    <a:pt x="0" y="181951"/>
                    <a:pt x="0" y="406400"/>
                  </a:cubicBezTo>
                  <a:cubicBezTo>
                    <a:pt x="0" y="630849"/>
                    <a:pt x="190616" y="812800"/>
                    <a:pt x="425753" y="812800"/>
                  </a:cubicBezTo>
                  <a:cubicBezTo>
                    <a:pt x="660889" y="812800"/>
                    <a:pt x="851505" y="630849"/>
                    <a:pt x="851505" y="406400"/>
                  </a:cubicBezTo>
                  <a:cubicBezTo>
                    <a:pt x="851505" y="181951"/>
                    <a:pt x="660889" y="0"/>
                    <a:pt x="425753" y="0"/>
                  </a:cubicBezTo>
                  <a:close/>
                </a:path>
              </a:pathLst>
            </a:custGeom>
            <a:solidFill>
              <a:srgbClr val="BBDAFF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79829" y="28575"/>
              <a:ext cx="691848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-3473631" y="2206026"/>
            <a:ext cx="5284814" cy="5346115"/>
            <a:chOff x="0" y="0"/>
            <a:chExt cx="812800" cy="822228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812800" cy="822228"/>
            </a:xfrm>
            <a:custGeom>
              <a:avLst/>
              <a:gdLst/>
              <a:ahLst/>
              <a:cxnLst/>
              <a:rect r="r" b="b" t="t" l="l"/>
              <a:pathLst>
                <a:path h="822228" w="812800">
                  <a:moveTo>
                    <a:pt x="406400" y="0"/>
                  </a:moveTo>
                  <a:cubicBezTo>
                    <a:pt x="181951" y="0"/>
                    <a:pt x="0" y="184062"/>
                    <a:pt x="0" y="411114"/>
                  </a:cubicBezTo>
                  <a:cubicBezTo>
                    <a:pt x="0" y="638166"/>
                    <a:pt x="181951" y="822228"/>
                    <a:pt x="406400" y="822228"/>
                  </a:cubicBezTo>
                  <a:cubicBezTo>
                    <a:pt x="630849" y="822228"/>
                    <a:pt x="812800" y="638166"/>
                    <a:pt x="812800" y="411114"/>
                  </a:cubicBezTo>
                  <a:cubicBezTo>
                    <a:pt x="812800" y="184062"/>
                    <a:pt x="630849" y="0"/>
                    <a:pt x="406400" y="0"/>
                  </a:cubicBezTo>
                  <a:close/>
                </a:path>
              </a:pathLst>
            </a:custGeom>
            <a:ln w="57150" cap="sq">
              <a:solidFill>
                <a:srgbClr val="0C5575"/>
              </a:solidFill>
              <a:prstDash val="solid"/>
              <a:miter/>
            </a:ln>
          </p:spPr>
        </p:sp>
        <p:sp>
          <p:nvSpPr>
            <p:cNvPr name="TextBox 29" id="29"/>
            <p:cNvSpPr txBox="true"/>
            <p:nvPr/>
          </p:nvSpPr>
          <p:spPr>
            <a:xfrm>
              <a:off x="76200" y="48509"/>
              <a:ext cx="660400" cy="69663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59"/>
                </a:lnSpc>
              </a:pPr>
            </a:p>
          </p:txBody>
        </p:sp>
      </p:grpSp>
      <p:sp>
        <p:nvSpPr>
          <p:cNvPr name="AutoShape 30" id="30"/>
          <p:cNvSpPr/>
          <p:nvPr/>
        </p:nvSpPr>
        <p:spPr>
          <a:xfrm>
            <a:off x="1501399" y="1797812"/>
            <a:ext cx="1299596" cy="0"/>
          </a:xfrm>
          <a:prstGeom prst="line">
            <a:avLst/>
          </a:prstGeom>
          <a:ln cap="flat" w="38100">
            <a:solidFill>
              <a:srgbClr val="0C557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1" id="31"/>
          <p:cNvSpPr/>
          <p:nvPr/>
        </p:nvSpPr>
        <p:spPr>
          <a:xfrm flipV="true">
            <a:off x="747365" y="1815465"/>
            <a:ext cx="754034" cy="919786"/>
          </a:xfrm>
          <a:prstGeom prst="line">
            <a:avLst/>
          </a:prstGeom>
          <a:ln cap="flat" w="47625">
            <a:solidFill>
              <a:srgbClr val="0C5575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2" id="32"/>
          <p:cNvGrpSpPr/>
          <p:nvPr/>
        </p:nvGrpSpPr>
        <p:grpSpPr>
          <a:xfrm rot="0">
            <a:off x="3129175" y="4445225"/>
            <a:ext cx="5867899" cy="2051743"/>
            <a:chOff x="0" y="0"/>
            <a:chExt cx="1681884" cy="58808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681884" cy="588080"/>
            </a:xfrm>
            <a:custGeom>
              <a:avLst/>
              <a:gdLst/>
              <a:ahLst/>
              <a:cxnLst/>
              <a:rect r="r" b="b" t="t" l="l"/>
              <a:pathLst>
                <a:path h="588080" w="1681884">
                  <a:moveTo>
                    <a:pt x="60691" y="0"/>
                  </a:moveTo>
                  <a:lnTo>
                    <a:pt x="1621193" y="0"/>
                  </a:lnTo>
                  <a:cubicBezTo>
                    <a:pt x="1654711" y="0"/>
                    <a:pt x="1681884" y="27172"/>
                    <a:pt x="1681884" y="60691"/>
                  </a:cubicBezTo>
                  <a:lnTo>
                    <a:pt x="1681884" y="527389"/>
                  </a:lnTo>
                  <a:cubicBezTo>
                    <a:pt x="1681884" y="560907"/>
                    <a:pt x="1654711" y="588080"/>
                    <a:pt x="1621193" y="588080"/>
                  </a:cubicBezTo>
                  <a:lnTo>
                    <a:pt x="60691" y="588080"/>
                  </a:lnTo>
                  <a:cubicBezTo>
                    <a:pt x="27172" y="588080"/>
                    <a:pt x="0" y="560907"/>
                    <a:pt x="0" y="527389"/>
                  </a:cubicBezTo>
                  <a:lnTo>
                    <a:pt x="0" y="60691"/>
                  </a:lnTo>
                  <a:cubicBezTo>
                    <a:pt x="0" y="27172"/>
                    <a:pt x="27172" y="0"/>
                    <a:pt x="60691" y="0"/>
                  </a:cubicBezTo>
                  <a:close/>
                </a:path>
              </a:pathLst>
            </a:custGeom>
            <a:ln w="38100" cap="rnd">
              <a:solidFill>
                <a:srgbClr val="F16315"/>
              </a:solidFill>
              <a:prstDash val="solid"/>
              <a:round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28575"/>
              <a:ext cx="1681884" cy="6166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85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3218484" y="3918732"/>
            <a:ext cx="1138227" cy="1138227"/>
            <a:chOff x="0" y="0"/>
            <a:chExt cx="812800" cy="8128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BEFEC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sp>
        <p:nvSpPr>
          <p:cNvPr name="AutoShape 38" id="38"/>
          <p:cNvSpPr/>
          <p:nvPr/>
        </p:nvSpPr>
        <p:spPr>
          <a:xfrm>
            <a:off x="1811183" y="4487846"/>
            <a:ext cx="1684379" cy="0"/>
          </a:xfrm>
          <a:prstGeom prst="line">
            <a:avLst/>
          </a:prstGeom>
          <a:ln cap="flat" w="47625">
            <a:solidFill>
              <a:srgbClr val="F16315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9" id="39"/>
          <p:cNvGrpSpPr/>
          <p:nvPr/>
        </p:nvGrpSpPr>
        <p:grpSpPr>
          <a:xfrm rot="0">
            <a:off x="2763613" y="7154648"/>
            <a:ext cx="6233460" cy="2014950"/>
            <a:chOff x="0" y="0"/>
            <a:chExt cx="1786662" cy="577534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786662" cy="577534"/>
            </a:xfrm>
            <a:custGeom>
              <a:avLst/>
              <a:gdLst/>
              <a:ahLst/>
              <a:cxnLst/>
              <a:rect r="r" b="b" t="t" l="l"/>
              <a:pathLst>
                <a:path h="577534" w="1786662">
                  <a:moveTo>
                    <a:pt x="57132" y="0"/>
                  </a:moveTo>
                  <a:lnTo>
                    <a:pt x="1729531" y="0"/>
                  </a:lnTo>
                  <a:cubicBezTo>
                    <a:pt x="1761084" y="0"/>
                    <a:pt x="1786662" y="25579"/>
                    <a:pt x="1786662" y="57132"/>
                  </a:cubicBezTo>
                  <a:lnTo>
                    <a:pt x="1786662" y="520402"/>
                  </a:lnTo>
                  <a:cubicBezTo>
                    <a:pt x="1786662" y="551955"/>
                    <a:pt x="1761084" y="577534"/>
                    <a:pt x="1729531" y="577534"/>
                  </a:cubicBezTo>
                  <a:lnTo>
                    <a:pt x="57132" y="577534"/>
                  </a:lnTo>
                  <a:cubicBezTo>
                    <a:pt x="25579" y="577534"/>
                    <a:pt x="0" y="551955"/>
                    <a:pt x="0" y="520402"/>
                  </a:cubicBezTo>
                  <a:lnTo>
                    <a:pt x="0" y="57132"/>
                  </a:lnTo>
                  <a:cubicBezTo>
                    <a:pt x="0" y="25579"/>
                    <a:pt x="25579" y="0"/>
                    <a:pt x="57132" y="0"/>
                  </a:cubicBezTo>
                  <a:close/>
                </a:path>
              </a:pathLst>
            </a:custGeom>
            <a:ln w="38100" cap="rnd">
              <a:solidFill>
                <a:srgbClr val="0B4F6C"/>
              </a:solidFill>
              <a:prstDash val="solid"/>
              <a:round/>
            </a:ln>
          </p:spPr>
        </p:sp>
        <p:sp>
          <p:nvSpPr>
            <p:cNvPr name="TextBox 41" id="41"/>
            <p:cNvSpPr txBox="true"/>
            <p:nvPr/>
          </p:nvSpPr>
          <p:spPr>
            <a:xfrm>
              <a:off x="0" y="-28575"/>
              <a:ext cx="1786662" cy="6061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85"/>
                </a:lnSpc>
              </a:pPr>
            </a:p>
          </p:txBody>
        </p:sp>
      </p:grpSp>
      <p:sp>
        <p:nvSpPr>
          <p:cNvPr name="AutoShape 42" id="42"/>
          <p:cNvSpPr/>
          <p:nvPr/>
        </p:nvSpPr>
        <p:spPr>
          <a:xfrm>
            <a:off x="1501399" y="7154648"/>
            <a:ext cx="1809515" cy="0"/>
          </a:xfrm>
          <a:prstGeom prst="line">
            <a:avLst/>
          </a:prstGeom>
          <a:ln cap="flat" w="47625">
            <a:solidFill>
              <a:srgbClr val="0C5575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3" id="43"/>
          <p:cNvGrpSpPr/>
          <p:nvPr/>
        </p:nvGrpSpPr>
        <p:grpSpPr>
          <a:xfrm rot="0">
            <a:off x="2860339" y="6496968"/>
            <a:ext cx="1232433" cy="1232433"/>
            <a:chOff x="0" y="0"/>
            <a:chExt cx="812800" cy="81280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BBDAFF"/>
            </a:solidFill>
          </p:spPr>
        </p:sp>
        <p:sp>
          <p:nvSpPr>
            <p:cNvPr name="TextBox 45" id="45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sp>
        <p:nvSpPr>
          <p:cNvPr name="AutoShape 46" id="46"/>
          <p:cNvSpPr/>
          <p:nvPr/>
        </p:nvSpPr>
        <p:spPr>
          <a:xfrm flipH="true" flipV="true">
            <a:off x="937286" y="6675206"/>
            <a:ext cx="564113" cy="466151"/>
          </a:xfrm>
          <a:prstGeom prst="line">
            <a:avLst/>
          </a:prstGeom>
          <a:ln cap="flat" w="47625">
            <a:solidFill>
              <a:srgbClr val="0C5575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7" id="47"/>
          <p:cNvGrpSpPr/>
          <p:nvPr/>
        </p:nvGrpSpPr>
        <p:grpSpPr>
          <a:xfrm rot="0">
            <a:off x="581779" y="2632923"/>
            <a:ext cx="331173" cy="331173"/>
            <a:chOff x="0" y="0"/>
            <a:chExt cx="812800" cy="81280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85725" cap="sq">
              <a:solidFill>
                <a:srgbClr val="0B4F6C"/>
              </a:solidFill>
              <a:prstDash val="solid"/>
              <a:miter/>
            </a:ln>
          </p:spPr>
        </p:sp>
        <p:sp>
          <p:nvSpPr>
            <p:cNvPr name="TextBox 49" id="49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644921" y="4278963"/>
            <a:ext cx="332525" cy="332525"/>
            <a:chOff x="0" y="0"/>
            <a:chExt cx="812800" cy="81280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85725" cap="sq">
              <a:solidFill>
                <a:srgbClr val="F16315"/>
              </a:solidFill>
              <a:prstDash val="solid"/>
              <a:miter/>
            </a:ln>
          </p:spPr>
        </p:sp>
        <p:sp>
          <p:nvSpPr>
            <p:cNvPr name="TextBox 52" id="52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862438" y="6568899"/>
            <a:ext cx="332525" cy="332525"/>
            <a:chOff x="0" y="0"/>
            <a:chExt cx="812800" cy="81280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85725" cap="sq">
              <a:solidFill>
                <a:srgbClr val="0C5575"/>
              </a:solidFill>
              <a:prstDash val="solid"/>
              <a:miter/>
            </a:ln>
          </p:spPr>
        </p:sp>
        <p:sp>
          <p:nvSpPr>
            <p:cNvPr name="TextBox 55" id="55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2608051" y="1254451"/>
            <a:ext cx="1025473" cy="978860"/>
            <a:chOff x="0" y="0"/>
            <a:chExt cx="851505" cy="81280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851505" cy="812800"/>
            </a:xfrm>
            <a:custGeom>
              <a:avLst/>
              <a:gdLst/>
              <a:ahLst/>
              <a:cxnLst/>
              <a:rect r="r" b="b" t="t" l="l"/>
              <a:pathLst>
                <a:path h="812800" w="851505">
                  <a:moveTo>
                    <a:pt x="425753" y="0"/>
                  </a:moveTo>
                  <a:cubicBezTo>
                    <a:pt x="190616" y="0"/>
                    <a:pt x="0" y="181951"/>
                    <a:pt x="0" y="406400"/>
                  </a:cubicBezTo>
                  <a:cubicBezTo>
                    <a:pt x="0" y="630849"/>
                    <a:pt x="190616" y="812800"/>
                    <a:pt x="425753" y="812800"/>
                  </a:cubicBezTo>
                  <a:cubicBezTo>
                    <a:pt x="660889" y="812800"/>
                    <a:pt x="851505" y="630849"/>
                    <a:pt x="851505" y="406400"/>
                  </a:cubicBezTo>
                  <a:cubicBezTo>
                    <a:pt x="851505" y="181951"/>
                    <a:pt x="660889" y="0"/>
                    <a:pt x="425753" y="0"/>
                  </a:cubicBezTo>
                  <a:close/>
                </a:path>
              </a:pathLst>
            </a:custGeom>
            <a:solidFill>
              <a:srgbClr val="0B4F6C"/>
            </a:solidFill>
          </p:spPr>
        </p:sp>
        <p:sp>
          <p:nvSpPr>
            <p:cNvPr name="TextBox 58" id="58"/>
            <p:cNvSpPr txBox="true"/>
            <p:nvPr/>
          </p:nvSpPr>
          <p:spPr>
            <a:xfrm>
              <a:off x="79829" y="28575"/>
              <a:ext cx="691848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3267541" y="3976159"/>
            <a:ext cx="1023373" cy="1023373"/>
            <a:chOff x="0" y="0"/>
            <a:chExt cx="812800" cy="81280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16315"/>
            </a:solidFill>
          </p:spPr>
        </p:sp>
        <p:sp>
          <p:nvSpPr>
            <p:cNvPr name="TextBox 61" id="61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grpSp>
        <p:nvGrpSpPr>
          <p:cNvPr name="Group 62" id="62"/>
          <p:cNvGrpSpPr/>
          <p:nvPr/>
        </p:nvGrpSpPr>
        <p:grpSpPr>
          <a:xfrm rot="0">
            <a:off x="2913456" y="6557591"/>
            <a:ext cx="1108074" cy="1108074"/>
            <a:chOff x="0" y="0"/>
            <a:chExt cx="812800" cy="81280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B4F6C"/>
            </a:solidFill>
          </p:spPr>
        </p:sp>
        <p:sp>
          <p:nvSpPr>
            <p:cNvPr name="TextBox 64" id="64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sp>
        <p:nvSpPr>
          <p:cNvPr name="TextBox 65" id="65"/>
          <p:cNvSpPr txBox="true"/>
          <p:nvPr/>
        </p:nvSpPr>
        <p:spPr>
          <a:xfrm rot="0">
            <a:off x="2975277" y="1348026"/>
            <a:ext cx="291021" cy="705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811"/>
              </a:lnSpc>
              <a:spcBef>
                <a:spcPct val="0"/>
              </a:spcBef>
            </a:pPr>
            <a:r>
              <a:rPr lang="en-US" b="true" sz="415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3634015" y="4073057"/>
            <a:ext cx="307164" cy="7438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76"/>
              </a:lnSpc>
              <a:spcBef>
                <a:spcPct val="0"/>
              </a:spcBef>
            </a:pPr>
            <a:r>
              <a:rPr lang="en-US" b="true" sz="434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3291146" y="6671160"/>
            <a:ext cx="352693" cy="7983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579"/>
              </a:lnSpc>
              <a:spcBef>
                <a:spcPct val="0"/>
              </a:spcBef>
            </a:pPr>
            <a:r>
              <a:rPr lang="en-US" b="true" sz="4699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4032658" y="1535609"/>
            <a:ext cx="3558251" cy="39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66"/>
              </a:lnSpc>
              <a:spcBef>
                <a:spcPct val="0"/>
              </a:spcBef>
            </a:pPr>
            <a:r>
              <a:rPr lang="en-US" b="true" sz="2772">
                <a:solidFill>
                  <a:srgbClr val="FFFFFF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Social</a:t>
            </a:r>
          </a:p>
        </p:txBody>
      </p:sp>
      <p:grpSp>
        <p:nvGrpSpPr>
          <p:cNvPr name="Group 69" id="69"/>
          <p:cNvGrpSpPr/>
          <p:nvPr/>
        </p:nvGrpSpPr>
        <p:grpSpPr>
          <a:xfrm rot="0">
            <a:off x="4356710" y="4067203"/>
            <a:ext cx="4107253" cy="756045"/>
            <a:chOff x="0" y="0"/>
            <a:chExt cx="1472053" cy="270969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1472053" cy="270969"/>
            </a:xfrm>
            <a:custGeom>
              <a:avLst/>
              <a:gdLst/>
              <a:ahLst/>
              <a:cxnLst/>
              <a:rect r="r" b="b" t="t" l="l"/>
              <a:pathLst>
                <a:path h="270969" w="1472053">
                  <a:moveTo>
                    <a:pt x="135484" y="0"/>
                  </a:moveTo>
                  <a:lnTo>
                    <a:pt x="1336568" y="0"/>
                  </a:lnTo>
                  <a:cubicBezTo>
                    <a:pt x="1411394" y="0"/>
                    <a:pt x="1472053" y="60658"/>
                    <a:pt x="1472053" y="135484"/>
                  </a:cubicBezTo>
                  <a:lnTo>
                    <a:pt x="1472053" y="135484"/>
                  </a:lnTo>
                  <a:cubicBezTo>
                    <a:pt x="1472053" y="210310"/>
                    <a:pt x="1411394" y="270969"/>
                    <a:pt x="1336568" y="270969"/>
                  </a:cubicBezTo>
                  <a:lnTo>
                    <a:pt x="135484" y="270969"/>
                  </a:lnTo>
                  <a:cubicBezTo>
                    <a:pt x="60658" y="270969"/>
                    <a:pt x="0" y="210310"/>
                    <a:pt x="0" y="135484"/>
                  </a:cubicBezTo>
                  <a:lnTo>
                    <a:pt x="0" y="135484"/>
                  </a:lnTo>
                  <a:cubicBezTo>
                    <a:pt x="0" y="60658"/>
                    <a:pt x="60658" y="0"/>
                    <a:pt x="135484" y="0"/>
                  </a:cubicBezTo>
                  <a:close/>
                </a:path>
              </a:pathLst>
            </a:custGeom>
            <a:solidFill>
              <a:srgbClr val="F16315"/>
            </a:solidFill>
          </p:spPr>
        </p:sp>
        <p:sp>
          <p:nvSpPr>
            <p:cNvPr name="TextBox 71" id="71"/>
            <p:cNvSpPr txBox="true"/>
            <p:nvPr/>
          </p:nvSpPr>
          <p:spPr>
            <a:xfrm>
              <a:off x="0" y="-47625"/>
              <a:ext cx="1472053" cy="3185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sp>
        <p:nvSpPr>
          <p:cNvPr name="TextBox 72" id="72"/>
          <p:cNvSpPr txBox="true"/>
          <p:nvPr/>
        </p:nvSpPr>
        <p:spPr>
          <a:xfrm rot="0">
            <a:off x="4740871" y="4271415"/>
            <a:ext cx="3723093" cy="3666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14"/>
              </a:lnSpc>
              <a:spcBef>
                <a:spcPct val="0"/>
              </a:spcBef>
            </a:pPr>
            <a:r>
              <a:rPr lang="en-US" b="true" sz="2536">
                <a:solidFill>
                  <a:srgbClr val="FFFFFF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E</a:t>
            </a:r>
            <a:r>
              <a:rPr lang="en-US" b="true" sz="2536">
                <a:solidFill>
                  <a:srgbClr val="FFFFFF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conomi</a:t>
            </a:r>
            <a:r>
              <a:rPr lang="en-US" b="true" sz="2536" strike="noStrike" u="none">
                <a:solidFill>
                  <a:srgbClr val="FFFFFF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c</a:t>
            </a:r>
          </a:p>
        </p:txBody>
      </p:sp>
      <p:grpSp>
        <p:nvGrpSpPr>
          <p:cNvPr name="Group 73" id="73"/>
          <p:cNvGrpSpPr/>
          <p:nvPr/>
        </p:nvGrpSpPr>
        <p:grpSpPr>
          <a:xfrm rot="0">
            <a:off x="4111414" y="6735162"/>
            <a:ext cx="4107253" cy="756045"/>
            <a:chOff x="0" y="0"/>
            <a:chExt cx="1472053" cy="270969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1472053" cy="270969"/>
            </a:xfrm>
            <a:custGeom>
              <a:avLst/>
              <a:gdLst/>
              <a:ahLst/>
              <a:cxnLst/>
              <a:rect r="r" b="b" t="t" l="l"/>
              <a:pathLst>
                <a:path h="270969" w="1472053">
                  <a:moveTo>
                    <a:pt x="135484" y="0"/>
                  </a:moveTo>
                  <a:lnTo>
                    <a:pt x="1336568" y="0"/>
                  </a:lnTo>
                  <a:cubicBezTo>
                    <a:pt x="1411394" y="0"/>
                    <a:pt x="1472053" y="60658"/>
                    <a:pt x="1472053" y="135484"/>
                  </a:cubicBezTo>
                  <a:lnTo>
                    <a:pt x="1472053" y="135484"/>
                  </a:lnTo>
                  <a:cubicBezTo>
                    <a:pt x="1472053" y="210310"/>
                    <a:pt x="1411394" y="270969"/>
                    <a:pt x="1336568" y="270969"/>
                  </a:cubicBezTo>
                  <a:lnTo>
                    <a:pt x="135484" y="270969"/>
                  </a:lnTo>
                  <a:cubicBezTo>
                    <a:pt x="60658" y="270969"/>
                    <a:pt x="0" y="210310"/>
                    <a:pt x="0" y="135484"/>
                  </a:cubicBezTo>
                  <a:lnTo>
                    <a:pt x="0" y="135484"/>
                  </a:lnTo>
                  <a:cubicBezTo>
                    <a:pt x="0" y="60658"/>
                    <a:pt x="60658" y="0"/>
                    <a:pt x="135484" y="0"/>
                  </a:cubicBezTo>
                  <a:close/>
                </a:path>
              </a:pathLst>
            </a:custGeom>
            <a:solidFill>
              <a:srgbClr val="0B4F6C"/>
            </a:solidFill>
          </p:spPr>
        </p:sp>
        <p:sp>
          <p:nvSpPr>
            <p:cNvPr name="TextBox 75" id="75"/>
            <p:cNvSpPr txBox="true"/>
            <p:nvPr/>
          </p:nvSpPr>
          <p:spPr>
            <a:xfrm>
              <a:off x="0" y="-47625"/>
              <a:ext cx="1472053" cy="3185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sp>
        <p:nvSpPr>
          <p:cNvPr name="TextBox 76" id="76"/>
          <p:cNvSpPr txBox="true"/>
          <p:nvPr/>
        </p:nvSpPr>
        <p:spPr>
          <a:xfrm rot="0">
            <a:off x="4252813" y="6967546"/>
            <a:ext cx="3965855" cy="3666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14"/>
              </a:lnSpc>
              <a:spcBef>
                <a:spcPct val="0"/>
              </a:spcBef>
            </a:pPr>
            <a:r>
              <a:rPr lang="en-US" b="true" sz="2536" strike="noStrike" u="none">
                <a:solidFill>
                  <a:srgbClr val="FFFFFF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 </a:t>
            </a:r>
            <a:r>
              <a:rPr lang="en-US" b="true" sz="2536" strike="noStrike" u="none">
                <a:solidFill>
                  <a:srgbClr val="FFFFFF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Envi</a:t>
            </a:r>
            <a:r>
              <a:rPr lang="en-US" b="true" sz="2536" strike="noStrike" u="none">
                <a:solidFill>
                  <a:srgbClr val="FFFFFF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r</a:t>
            </a:r>
            <a:r>
              <a:rPr lang="en-US" b="true" sz="2536" strike="noStrike" u="none">
                <a:solidFill>
                  <a:srgbClr val="FFFFFF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onm</a:t>
            </a:r>
            <a:r>
              <a:rPr lang="en-US" b="true" sz="2536" strike="noStrike" u="none">
                <a:solidFill>
                  <a:srgbClr val="FFFFFF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enta</a:t>
            </a:r>
            <a:r>
              <a:rPr lang="en-US" b="true" sz="2536" strike="noStrike" u="none">
                <a:solidFill>
                  <a:srgbClr val="FFFFFF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l</a:t>
            </a:r>
          </a:p>
        </p:txBody>
      </p:sp>
      <p:sp>
        <p:nvSpPr>
          <p:cNvPr name="TextBox 77" id="77"/>
          <p:cNvSpPr txBox="true"/>
          <p:nvPr/>
        </p:nvSpPr>
        <p:spPr>
          <a:xfrm rot="0">
            <a:off x="3218484" y="2111016"/>
            <a:ext cx="5648438" cy="17061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45294" indent="-172647" lvl="1">
              <a:lnSpc>
                <a:spcPts val="1919"/>
              </a:lnSpc>
              <a:buFont typeface="Arial"/>
              <a:buChar char="•"/>
            </a:pPr>
            <a:r>
              <a:rPr lang="en-US" b="true" sz="1599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Early detection of preventable blindness for populations with least specialist access</a:t>
            </a:r>
          </a:p>
          <a:p>
            <a:pPr algn="l" marL="345294" indent="-172647" lvl="1">
              <a:lnSpc>
                <a:spcPts val="1919"/>
              </a:lnSpc>
              <a:buFont typeface="Arial"/>
              <a:buChar char="•"/>
            </a:pPr>
            <a:r>
              <a:rPr lang="en-US" b="true" sz="1599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Native-language voice read-out of diagnosis + instructions removes the literacy/language barrier for ASHA-led rural deliver.y</a:t>
            </a:r>
          </a:p>
          <a:p>
            <a:pPr algn="l" marL="345294" indent="-172647" lvl="1">
              <a:lnSpc>
                <a:spcPts val="1919"/>
              </a:lnSpc>
              <a:buFont typeface="Arial"/>
              <a:buChar char="•"/>
            </a:pPr>
            <a:r>
              <a:rPr lang="en-US" b="true" sz="1599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Turns ASHA workers &amp; rural PHCs into real screening points</a:t>
            </a:r>
          </a:p>
        </p:txBody>
      </p:sp>
      <p:sp>
        <p:nvSpPr>
          <p:cNvPr name="TextBox 78" id="78"/>
          <p:cNvSpPr txBox="true"/>
          <p:nvPr/>
        </p:nvSpPr>
        <p:spPr>
          <a:xfrm rot="0">
            <a:off x="3495562" y="4927446"/>
            <a:ext cx="5648438" cy="17061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45294" indent="-172647" lvl="1">
              <a:lnSpc>
                <a:spcPts val="1919"/>
              </a:lnSpc>
              <a:buFont typeface="Arial"/>
              <a:buChar char="•"/>
            </a:pPr>
            <a:r>
              <a:rPr lang="en-US" b="true" sz="1599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Frees scarce ophthalmologist time for genuinely referable cases only, via automatic triage</a:t>
            </a:r>
          </a:p>
          <a:p>
            <a:pPr algn="l" marL="345294" indent="-172647" lvl="1">
              <a:lnSpc>
                <a:spcPts val="1919"/>
              </a:lnSpc>
              <a:buFont typeface="Arial"/>
              <a:buChar char="•"/>
            </a:pPr>
            <a:r>
              <a:rPr lang="en-US" b="true" sz="1599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Avoids costlier late-stage treatment and lost productivity from preventable blindness</a:t>
            </a:r>
          </a:p>
          <a:p>
            <a:pPr algn="l" marL="345294" indent="-172647" lvl="1">
              <a:lnSpc>
                <a:spcPts val="1919"/>
              </a:lnSpc>
              <a:buFont typeface="Arial"/>
              <a:buChar char="•"/>
            </a:pPr>
            <a:r>
              <a:rPr lang="en-US" b="true" sz="1599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Simulink capacity model lets a district right-size staffing/bandwidth investment, not guess</a:t>
            </a:r>
          </a:p>
          <a:p>
            <a:pPr algn="l">
              <a:lnSpc>
                <a:spcPts val="1919"/>
              </a:lnSpc>
            </a:pPr>
          </a:p>
        </p:txBody>
      </p:sp>
      <p:sp>
        <p:nvSpPr>
          <p:cNvPr name="TextBox 79" id="79"/>
          <p:cNvSpPr txBox="true"/>
          <p:nvPr/>
        </p:nvSpPr>
        <p:spPr>
          <a:xfrm rot="0">
            <a:off x="3495562" y="7552141"/>
            <a:ext cx="5648438" cy="17061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45294" indent="-172647" lvl="1">
              <a:lnSpc>
                <a:spcPts val="1919"/>
              </a:lnSpc>
              <a:buFont typeface="Arial"/>
              <a:buChar char="•"/>
            </a:pPr>
            <a:r>
              <a:rPr lang="en-US" b="true" sz="1599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Fewer screening-only trips to distant clinics — lower travel cost, time, and carbon footprint</a:t>
            </a:r>
          </a:p>
          <a:p>
            <a:pPr algn="l" marL="345294" indent="-172647" lvl="1">
              <a:lnSpc>
                <a:spcPts val="1919"/>
              </a:lnSpc>
              <a:buFont typeface="Arial"/>
              <a:buChar char="•"/>
            </a:pPr>
            <a:r>
              <a:rPr lang="en-US" b="true" sz="1599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Reduces load on already overstretched public hospital infrastructure</a:t>
            </a:r>
          </a:p>
          <a:p>
            <a:pPr algn="l" marL="345294" indent="-172647" lvl="1">
              <a:lnSpc>
                <a:spcPts val="1919"/>
              </a:lnSpc>
              <a:buFont typeface="Arial"/>
              <a:buChar char="•"/>
            </a:pPr>
            <a:r>
              <a:rPr lang="en-US" b="true" sz="1599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Deployable on existing smartphone + low-cost fundus-lens hardware, no new infrastructure</a:t>
            </a:r>
          </a:p>
          <a:p>
            <a:pPr algn="l">
              <a:lnSpc>
                <a:spcPts val="1919"/>
              </a:lnSpc>
            </a:pPr>
          </a:p>
        </p:txBody>
      </p:sp>
      <p:grpSp>
        <p:nvGrpSpPr>
          <p:cNvPr name="Group 80" id="80"/>
          <p:cNvGrpSpPr/>
          <p:nvPr/>
        </p:nvGrpSpPr>
        <p:grpSpPr>
          <a:xfrm rot="0">
            <a:off x="10644899" y="1507034"/>
            <a:ext cx="1866305" cy="1866305"/>
            <a:chOff x="0" y="0"/>
            <a:chExt cx="812800" cy="812800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BEFEC"/>
            </a:solidFill>
          </p:spPr>
        </p:sp>
        <p:sp>
          <p:nvSpPr>
            <p:cNvPr name="TextBox 82" id="82"/>
            <p:cNvSpPr txBox="true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grpSp>
        <p:nvGrpSpPr>
          <p:cNvPr name="Group 83" id="83"/>
          <p:cNvGrpSpPr/>
          <p:nvPr/>
        </p:nvGrpSpPr>
        <p:grpSpPr>
          <a:xfrm rot="0">
            <a:off x="10810875" y="5513889"/>
            <a:ext cx="1820329" cy="1820329"/>
            <a:chOff x="0" y="0"/>
            <a:chExt cx="812800" cy="812800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BEFEC"/>
            </a:solidFill>
          </p:spPr>
        </p:sp>
        <p:sp>
          <p:nvSpPr>
            <p:cNvPr name="TextBox 85" id="85"/>
            <p:cNvSpPr txBox="true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grpSp>
        <p:nvGrpSpPr>
          <p:cNvPr name="Group 86" id="86"/>
          <p:cNvGrpSpPr/>
          <p:nvPr/>
        </p:nvGrpSpPr>
        <p:grpSpPr>
          <a:xfrm rot="0">
            <a:off x="9375300" y="3373338"/>
            <a:ext cx="1866305" cy="1866305"/>
            <a:chOff x="0" y="0"/>
            <a:chExt cx="812800" cy="812800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BEFEC"/>
            </a:solidFill>
          </p:spPr>
        </p:sp>
        <p:sp>
          <p:nvSpPr>
            <p:cNvPr name="TextBox 88" id="88"/>
            <p:cNvSpPr txBox="true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sp>
        <p:nvSpPr>
          <p:cNvPr name="TextBox 89" id="89"/>
          <p:cNvSpPr txBox="true"/>
          <p:nvPr/>
        </p:nvSpPr>
        <p:spPr>
          <a:xfrm rot="0">
            <a:off x="10959398" y="2203909"/>
            <a:ext cx="1237306" cy="527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17"/>
              </a:lnSpc>
              <a:spcBef>
                <a:spcPct val="0"/>
              </a:spcBef>
            </a:pPr>
            <a:r>
              <a:rPr lang="en-US" b="true" sz="3514">
                <a:solidFill>
                  <a:srgbClr val="F16315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101M</a:t>
            </a:r>
          </a:p>
        </p:txBody>
      </p:sp>
      <p:sp>
        <p:nvSpPr>
          <p:cNvPr name="TextBox 90" id="90"/>
          <p:cNvSpPr txBox="true"/>
          <p:nvPr/>
        </p:nvSpPr>
        <p:spPr>
          <a:xfrm rot="0">
            <a:off x="9716163" y="4042856"/>
            <a:ext cx="1184579" cy="527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17"/>
              </a:lnSpc>
              <a:spcBef>
                <a:spcPct val="0"/>
              </a:spcBef>
            </a:pPr>
            <a:r>
              <a:rPr lang="en-US" b="true" sz="3514">
                <a:solidFill>
                  <a:srgbClr val="F16315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12.5%</a:t>
            </a:r>
          </a:p>
        </p:txBody>
      </p:sp>
      <p:sp>
        <p:nvSpPr>
          <p:cNvPr name="TextBox 91" id="91"/>
          <p:cNvSpPr txBox="true"/>
          <p:nvPr/>
        </p:nvSpPr>
        <p:spPr>
          <a:xfrm rot="0">
            <a:off x="10912373" y="6166913"/>
            <a:ext cx="1617332" cy="5142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13"/>
              </a:lnSpc>
              <a:spcBef>
                <a:spcPct val="0"/>
              </a:spcBef>
            </a:pPr>
            <a:r>
              <a:rPr lang="en-US" b="true" sz="3428">
                <a:solidFill>
                  <a:srgbClr val="F16315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~</a:t>
            </a:r>
            <a:r>
              <a:rPr lang="en-US" b="true" sz="3428">
                <a:solidFill>
                  <a:srgbClr val="F16315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12.6M</a:t>
            </a:r>
          </a:p>
        </p:txBody>
      </p:sp>
      <p:sp>
        <p:nvSpPr>
          <p:cNvPr name="TextBox 92" id="92"/>
          <p:cNvSpPr txBox="true"/>
          <p:nvPr/>
        </p:nvSpPr>
        <p:spPr>
          <a:xfrm rot="0">
            <a:off x="12800882" y="2034551"/>
            <a:ext cx="4303871" cy="561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20"/>
              </a:lnSpc>
              <a:spcBef>
                <a:spcPct val="0"/>
              </a:spcBef>
            </a:pPr>
            <a:r>
              <a:rPr lang="en-US" b="true" sz="1850">
                <a:solidFill>
                  <a:srgbClr val="0B4F6C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people living with diabetes in India.</a:t>
            </a:r>
          </a:p>
          <a:p>
            <a:pPr algn="l">
              <a:lnSpc>
                <a:spcPts val="2220"/>
              </a:lnSpc>
              <a:spcBef>
                <a:spcPct val="0"/>
              </a:spcBef>
            </a:pPr>
            <a:r>
              <a:rPr lang="en-US" b="true" sz="1850" i="true">
                <a:solidFill>
                  <a:srgbClr val="0B4F6C"/>
                </a:solidFill>
                <a:latin typeface="Montserrat Semi-Bold Italics"/>
                <a:ea typeface="Montserrat Semi-Bold Italics"/>
                <a:cs typeface="Montserrat Semi-Bold Italics"/>
                <a:sym typeface="Montserrat Semi-Bold Italics"/>
              </a:rPr>
              <a:t>ICMR-INDIAB, 2023</a:t>
            </a:r>
          </a:p>
        </p:txBody>
      </p:sp>
      <p:sp>
        <p:nvSpPr>
          <p:cNvPr name="TextBox 93" id="93"/>
          <p:cNvSpPr txBox="true"/>
          <p:nvPr/>
        </p:nvSpPr>
        <p:spPr>
          <a:xfrm rot="0">
            <a:off x="11531284" y="3932655"/>
            <a:ext cx="5018247" cy="838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20"/>
              </a:lnSpc>
            </a:pPr>
            <a:r>
              <a:rPr lang="en-US" sz="1850" b="true">
                <a:solidFill>
                  <a:srgbClr val="0B4F6C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of diabetics develop diabetic retinopathy.</a:t>
            </a:r>
          </a:p>
          <a:p>
            <a:pPr algn="l">
              <a:lnSpc>
                <a:spcPts val="2220"/>
              </a:lnSpc>
            </a:pPr>
            <a:r>
              <a:rPr lang="en-US" sz="1850" i="true" b="true">
                <a:solidFill>
                  <a:srgbClr val="0B4F6C"/>
                </a:solidFill>
                <a:latin typeface="Montserrat Semi-Bold Italics"/>
                <a:ea typeface="Montserrat Semi-Bold Italics"/>
                <a:cs typeface="Montserrat Semi-Bold Italics"/>
                <a:sym typeface="Montserrat Semi-Bold Italics"/>
              </a:rPr>
              <a:t>Lancet Glob. Health, 2022</a:t>
            </a:r>
          </a:p>
          <a:p>
            <a:pPr algn="l">
              <a:lnSpc>
                <a:spcPts val="2220"/>
              </a:lnSpc>
              <a:spcBef>
                <a:spcPct val="0"/>
              </a:spcBef>
            </a:pPr>
          </a:p>
        </p:txBody>
      </p:sp>
      <p:sp>
        <p:nvSpPr>
          <p:cNvPr name="TextBox 94" id="94"/>
          <p:cNvSpPr txBox="true"/>
          <p:nvPr/>
        </p:nvSpPr>
        <p:spPr>
          <a:xfrm rot="0">
            <a:off x="11578051" y="8009318"/>
            <a:ext cx="5018247" cy="838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20"/>
              </a:lnSpc>
            </a:pPr>
            <a:r>
              <a:rPr lang="en-US" sz="1850" b="true">
                <a:solidFill>
                  <a:srgbClr val="0B4F6C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have vision-threatening DR. (~4M people)</a:t>
            </a:r>
          </a:p>
          <a:p>
            <a:pPr algn="l">
              <a:lnSpc>
                <a:spcPts val="2220"/>
              </a:lnSpc>
            </a:pPr>
            <a:r>
              <a:rPr lang="en-US" sz="1850" i="true" b="true">
                <a:solidFill>
                  <a:srgbClr val="0B4F6C"/>
                </a:solidFill>
                <a:latin typeface="Montserrat Semi-Bold Italics"/>
                <a:ea typeface="Montserrat Semi-Bold Italics"/>
                <a:cs typeface="Montserrat Semi-Bold Italics"/>
                <a:sym typeface="Montserrat Semi-Bold Italics"/>
              </a:rPr>
              <a:t>SMART-India study, 2022</a:t>
            </a:r>
          </a:p>
          <a:p>
            <a:pPr algn="l">
              <a:lnSpc>
                <a:spcPts val="2220"/>
              </a:lnSpc>
              <a:spcBef>
                <a:spcPct val="0"/>
              </a:spcBef>
            </a:pPr>
          </a:p>
        </p:txBody>
      </p:sp>
      <p:sp>
        <p:nvSpPr>
          <p:cNvPr name="TextBox 95" id="95"/>
          <p:cNvSpPr txBox="true"/>
          <p:nvPr/>
        </p:nvSpPr>
        <p:spPr>
          <a:xfrm rot="0">
            <a:off x="12968507" y="6022070"/>
            <a:ext cx="4882039" cy="838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20"/>
              </a:lnSpc>
            </a:pPr>
            <a:r>
              <a:rPr lang="en-US" sz="1850" b="true">
                <a:solidFill>
                  <a:srgbClr val="0B4F6C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Indians estimated to have DR nationally.</a:t>
            </a:r>
          </a:p>
          <a:p>
            <a:pPr algn="l">
              <a:lnSpc>
                <a:spcPts val="2220"/>
              </a:lnSpc>
            </a:pPr>
            <a:r>
              <a:rPr lang="en-US" sz="1850" i="true" b="true">
                <a:solidFill>
                  <a:srgbClr val="0B4F6C"/>
                </a:solidFill>
                <a:latin typeface="Montserrat Semi-Bold Italics"/>
                <a:ea typeface="Montserrat Semi-Bold Italics"/>
                <a:cs typeface="Montserrat Semi-Bold Italics"/>
                <a:sym typeface="Montserrat Semi-Bold Italics"/>
              </a:rPr>
              <a:t>derived: 101M × 12.5%</a:t>
            </a:r>
          </a:p>
          <a:p>
            <a:pPr algn="l">
              <a:lnSpc>
                <a:spcPts val="2220"/>
              </a:lnSpc>
              <a:spcBef>
                <a:spcPct val="0"/>
              </a:spcBef>
            </a:pPr>
          </a:p>
        </p:txBody>
      </p:sp>
      <p:grpSp>
        <p:nvGrpSpPr>
          <p:cNvPr name="Group 96" id="96"/>
          <p:cNvGrpSpPr/>
          <p:nvPr/>
        </p:nvGrpSpPr>
        <p:grpSpPr>
          <a:xfrm rot="0">
            <a:off x="9610725" y="7469483"/>
            <a:ext cx="1754680" cy="1754680"/>
            <a:chOff x="0" y="0"/>
            <a:chExt cx="812800" cy="812800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BEFEC"/>
            </a:solidFill>
          </p:spPr>
        </p:sp>
        <p:sp>
          <p:nvSpPr>
            <p:cNvPr name="TextBox 98" id="98"/>
            <p:cNvSpPr txBox="true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sp>
        <p:nvSpPr>
          <p:cNvPr name="TextBox 99" id="99"/>
          <p:cNvSpPr txBox="true"/>
          <p:nvPr/>
        </p:nvSpPr>
        <p:spPr>
          <a:xfrm rot="0">
            <a:off x="9976281" y="8102840"/>
            <a:ext cx="995825" cy="496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8"/>
              </a:lnSpc>
              <a:spcBef>
                <a:spcPct val="0"/>
              </a:spcBef>
            </a:pPr>
            <a:r>
              <a:rPr lang="en-US" b="true" sz="3306">
                <a:solidFill>
                  <a:srgbClr val="F16315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4.</a:t>
            </a:r>
            <a:r>
              <a:rPr lang="en-US" b="true" sz="3306">
                <a:solidFill>
                  <a:srgbClr val="F16315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0%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21945600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 b="true">
                  <a:solidFill>
                    <a:srgbClr val="000000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RESEARCH  AND REFERENCES</a:t>
              </a: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571500" y="1485900"/>
            <a:ext cx="17099280" cy="419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359"/>
              </a:lnSpc>
            </a:pPr>
            <a:r>
              <a:rPr lang="en-US" b="true" sz="2799">
                <a:solidFill>
                  <a:srgbClr val="0B4F6C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Datasets, Methods &amp; Sources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6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6972300" y="9534525"/>
            <a:ext cx="4806001" cy="547688"/>
            <a:chOff x="0" y="0"/>
            <a:chExt cx="6408001" cy="73025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Template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86690" y="186690"/>
            <a:ext cx="1889760" cy="861060"/>
            <a:chOff x="0" y="0"/>
            <a:chExt cx="2519680" cy="1148080"/>
          </a:xfrm>
        </p:grpSpPr>
        <p:sp>
          <p:nvSpPr>
            <p:cNvPr name="Freeform 15" id="15" descr="Your startup LOGO"/>
            <p:cNvSpPr/>
            <p:nvPr/>
          </p:nvSpPr>
          <p:spPr>
            <a:xfrm flipH="false" flipV="false" rot="0">
              <a:off x="0" y="0"/>
              <a:ext cx="2519680" cy="1148080"/>
            </a:xfrm>
            <a:custGeom>
              <a:avLst/>
              <a:gdLst/>
              <a:ahLst/>
              <a:cxnLst/>
              <a:rect r="r" b="b" t="t" l="l"/>
              <a:pathLst>
                <a:path h="1148080" w="2519680">
                  <a:moveTo>
                    <a:pt x="0" y="574040"/>
                  </a:moveTo>
                  <a:cubicBezTo>
                    <a:pt x="0" y="257048"/>
                    <a:pt x="564007" y="0"/>
                    <a:pt x="1259840" y="0"/>
                  </a:cubicBezTo>
                  <a:cubicBezTo>
                    <a:pt x="1955673" y="0"/>
                    <a:pt x="2519680" y="257048"/>
                    <a:pt x="2519680" y="574040"/>
                  </a:cubicBezTo>
                  <a:cubicBezTo>
                    <a:pt x="2519680" y="891032"/>
                    <a:pt x="1955673" y="1148080"/>
                    <a:pt x="1259840" y="1148080"/>
                  </a:cubicBezTo>
                  <a:cubicBezTo>
                    <a:pt x="564007" y="1148080"/>
                    <a:pt x="0" y="891032"/>
                    <a:pt x="0" y="57404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0"/>
              <a:ext cx="2519680" cy="114808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08384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Veyronix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4762045" y="85649"/>
            <a:ext cx="3313681" cy="1684306"/>
            <a:chOff x="0" y="0"/>
            <a:chExt cx="4418241" cy="2245741"/>
          </a:xfrm>
        </p:grpSpPr>
        <p:sp>
          <p:nvSpPr>
            <p:cNvPr name="Freeform 18" id="18" descr="https://www.sih.gov.in/img1/SIH-Logo.png"/>
            <p:cNvSpPr/>
            <p:nvPr/>
          </p:nvSpPr>
          <p:spPr>
            <a:xfrm flipH="false" flipV="false" rot="0">
              <a:off x="0" y="0"/>
              <a:ext cx="4418203" cy="2245741"/>
            </a:xfrm>
            <a:custGeom>
              <a:avLst/>
              <a:gdLst/>
              <a:ahLst/>
              <a:cxnLst/>
              <a:rect r="r" b="b" t="t" l="l"/>
              <a:pathLst>
                <a:path h="2245741" w="4418203">
                  <a:moveTo>
                    <a:pt x="0" y="0"/>
                  </a:moveTo>
                  <a:lnTo>
                    <a:pt x="4418203" y="0"/>
                  </a:lnTo>
                  <a:lnTo>
                    <a:pt x="4418203" y="2245741"/>
                  </a:lnTo>
                  <a:lnTo>
                    <a:pt x="0" y="22457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aphicFrame>
        <p:nvGraphicFramePr>
          <p:cNvPr name="Table 19" id="19"/>
          <p:cNvGraphicFramePr>
            <a:graphicFrameLocks noGrp="true"/>
          </p:cNvGraphicFramePr>
          <p:nvPr/>
        </p:nvGraphicFramePr>
        <p:xfrm>
          <a:off x="480060" y="2125980"/>
          <a:ext cx="17278350" cy="6686550"/>
        </p:xfrm>
        <a:graphic>
          <a:graphicData uri="http://schemas.openxmlformats.org/drawingml/2006/table">
            <a:tbl>
              <a:tblPr/>
              <a:tblGrid>
                <a:gridCol w="2056946"/>
                <a:gridCol w="6307969"/>
                <a:gridCol w="8913435"/>
              </a:tblGrid>
              <a:tr h="74295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9"/>
                        </a:lnSpc>
                        <a:defRPr/>
                      </a:pPr>
                      <a:r>
                        <a:rPr lang="en-US" sz="2149" b="true">
                          <a:solidFill>
                            <a:srgbClr val="FFFFFF"/>
                          </a:solidFill>
                          <a:latin typeface="Libre Baskerville Bold"/>
                          <a:ea typeface="Libre Baskerville Bold"/>
                          <a:cs typeface="Libre Baskerville Bold"/>
                          <a:sym typeface="Libre Baskerville Bold"/>
                        </a:rPr>
                        <a:t>Category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631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9"/>
                        </a:lnSpc>
                        <a:defRPr/>
                      </a:pPr>
                      <a:r>
                        <a:rPr lang="en-US" sz="2149" b="true">
                          <a:solidFill>
                            <a:srgbClr val="FFFFFF"/>
                          </a:solidFill>
                          <a:latin typeface="Libre Baskerville Bold"/>
                          <a:ea typeface="Libre Baskerville Bold"/>
                          <a:cs typeface="Libre Baskerville Bold"/>
                          <a:sym typeface="Libre Baskerville Bold"/>
                        </a:rPr>
                        <a:t>Source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9"/>
                        </a:lnSpc>
                        <a:defRPr/>
                      </a:pPr>
                      <a:r>
                        <a:rPr lang="en-US" sz="2149" b="true">
                          <a:solidFill>
                            <a:srgbClr val="FFFFFF"/>
                          </a:solidFill>
                          <a:latin typeface="Libre Baskerville Bold"/>
                          <a:ea typeface="Libre Baskerville Bold"/>
                          <a:cs typeface="Libre Baskerville Bold"/>
                          <a:sym typeface="Libre Baskerville Bold"/>
                        </a:rPr>
                        <a:t>Key detail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</a:tr>
              <a:tr h="74295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Datasets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APTOS 2019 Blindness Detection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Kaggle — primary training set (~3,662 graded fundus images)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</a:tr>
              <a:tr h="74295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Datasets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IDRiD (Indian Diabetic Retinopathy Image Dataset)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idrid.grand-challenge.org — segmentation masks + disease grading, Indian population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Datasets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Messidor-2 images + adjudicated grades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ADCIS (images) + Kaggle google-brain/messidor2-dr-grades (Krause et al.) — external validation benchmark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</a:tr>
              <a:tr h="74295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Methods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ICDR Severity Scale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Wilkinson et al., “Proposed International Clinical DR and DME Disease Severity Scales,” Ophthalmology, 2003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Methods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Confidence calibration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Guo et al., “On Calibration of Modern Neural Networks,” ICML 2017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</a:tr>
              <a:tr h="74295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Methods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Cross-camera color normalisation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Graham, B., Kaggle Diabetic Retinopathy Detection — winning solution, 2015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Public health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101M Indians living with diabetes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Anjana et al., ICMR-INDIAB, Lancet Diabetes &amp; Endocrinology, 2023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</a:tr>
              <a:tr h="74295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Public health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12.5% DR / 4.0% vision-threatening DR prevalence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SMART-India study, Lancet Global Health, 2022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DAHUxOlOthk</dc:identifier>
  <dcterms:modified xsi:type="dcterms:W3CDTF">2011-08-01T06:04:30Z</dcterms:modified>
  <cp:revision>1</cp:revision>
  <dc:title>Veyronix_SIH26038_DRISHTI_IdeaPPT_Editable.pptx</dc:title>
</cp:coreProperties>
</file>